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e2543ce4d48ab" /><Relationship Type="http://schemas.openxmlformats.org/officeDocument/2006/relationships/extended-properties" Target="/docProps/app.xml" Id="R43af57d8619a4b90" /><Relationship Type="http://schemas.openxmlformats.org/officeDocument/2006/relationships/officeDocument" Target="/ppt/presentation.xml" Id="R68a397514a5e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6eb18d06044b86"/>
  </p:sldMasterIdLst>
  <p:notesMasterIdLst>
    <p:notesMasterId xmlns:r="http://schemas.openxmlformats.org/officeDocument/2006/relationships" r:id="R49eb817000894b33"/>
  </p:notesMasterIdLst>
  <p:sldIdLst>
    <p:sldId xmlns:r="http://schemas.openxmlformats.org/officeDocument/2006/relationships" id="256" r:id="Rb3bc6ee4f7b84768"/>
    <p:sldId xmlns:r="http://schemas.openxmlformats.org/officeDocument/2006/relationships" id="257" r:id="R8df4bc3f72734fee"/>
    <p:sldId xmlns:r="http://schemas.openxmlformats.org/officeDocument/2006/relationships" id="258" r:id="R89f5b91706ee40e2"/>
    <p:sldId xmlns:r="http://schemas.openxmlformats.org/officeDocument/2006/relationships" id="259" r:id="R4c16d6aa8c2945b0"/>
    <p:sldId xmlns:r="http://schemas.openxmlformats.org/officeDocument/2006/relationships" id="260" r:id="R8536690620f0417d"/>
    <p:sldId xmlns:r="http://schemas.openxmlformats.org/officeDocument/2006/relationships" id="261" r:id="Rbc109b95cdc149de"/>
    <p:sldId xmlns:r="http://schemas.openxmlformats.org/officeDocument/2006/relationships" id="262" r:id="Rd5fb7cb9cce64606"/>
    <p:sldId xmlns:r="http://schemas.openxmlformats.org/officeDocument/2006/relationships" id="263" r:id="Rae2b6fb20a2a41ee"/>
    <p:sldId xmlns:r="http://schemas.openxmlformats.org/officeDocument/2006/relationships" id="264" r:id="R33d34bd6936745f1"/>
    <p:sldId xmlns:r="http://schemas.openxmlformats.org/officeDocument/2006/relationships" id="265" r:id="R1d82d19dd4b34271"/>
    <p:sldId xmlns:r="http://schemas.openxmlformats.org/officeDocument/2006/relationships" id="266" r:id="R168068a86fcc4c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f911b6e504d2f" /><Relationship Type="http://schemas.openxmlformats.org/officeDocument/2006/relationships/slideMaster" Target="/ppt/slideMasters/slideMaster1.xml" Id="Re06eb18d06044b86" /><Relationship Type="http://schemas.openxmlformats.org/officeDocument/2006/relationships/notesMaster" Target="/ppt/notesMasters/notesMaster1.xml" Id="R49eb817000894b33" /><Relationship Type="http://schemas.openxmlformats.org/officeDocument/2006/relationships/presProps" Target="/ppt/presProps.xml" Id="Rd9ce83a6816c48b2" /><Relationship Type="http://schemas.openxmlformats.org/officeDocument/2006/relationships/tableStyles" Target="/ppt/tableStyles.xml" Id="R637b52fc627340b8" /><Relationship Type="http://schemas.openxmlformats.org/officeDocument/2006/relationships/slide" Target="/ppt/slides/slide1.xml" Id="Rb3bc6ee4f7b84768" /><Relationship Type="http://schemas.openxmlformats.org/officeDocument/2006/relationships/slide" Target="/ppt/slides/slide2.xml" Id="R8df4bc3f72734fee" /><Relationship Type="http://schemas.openxmlformats.org/officeDocument/2006/relationships/slide" Target="/ppt/slides/slide3.xml" Id="R89f5b91706ee40e2" /><Relationship Type="http://schemas.openxmlformats.org/officeDocument/2006/relationships/slide" Target="/ppt/slides/slide4.xml" Id="R4c16d6aa8c2945b0" /><Relationship Type="http://schemas.openxmlformats.org/officeDocument/2006/relationships/slide" Target="/ppt/slides/slide5.xml" Id="R8536690620f0417d" /><Relationship Type="http://schemas.openxmlformats.org/officeDocument/2006/relationships/slide" Target="/ppt/slides/slide6.xml" Id="Rbc109b95cdc149de" /><Relationship Type="http://schemas.openxmlformats.org/officeDocument/2006/relationships/slide" Target="/ppt/slides/slide7.xml" Id="Rd5fb7cb9cce64606" /><Relationship Type="http://schemas.openxmlformats.org/officeDocument/2006/relationships/slide" Target="/ppt/slides/slide8.xml" Id="Rae2b6fb20a2a41ee" /><Relationship Type="http://schemas.openxmlformats.org/officeDocument/2006/relationships/slide" Target="/ppt/slides/slide9.xml" Id="R33d34bd6936745f1" /><Relationship Type="http://schemas.openxmlformats.org/officeDocument/2006/relationships/slide" Target="/ppt/slides/slide10.xml" Id="R1d82d19dd4b34271" /><Relationship Type="http://schemas.openxmlformats.org/officeDocument/2006/relationships/slide" Target="/ppt/slides/slide11.xml" Id="R168068a86fcc4c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2a5d41aaa7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5f0720b0d42fa" /><Relationship Type="http://schemas.openxmlformats.org/officeDocument/2006/relationships/notesMaster" Target="/ppt/notesMasters/notesMaster1.xml" Id="Rab6c12301a88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f4fab4d814b44" /><Relationship Type="http://schemas.openxmlformats.org/officeDocument/2006/relationships/notesMaster" Target="/ppt/notesMasters/notesMaster1.xml" Id="R4187ec05c8604d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6152fcc0e4409" /><Relationship Type="http://schemas.openxmlformats.org/officeDocument/2006/relationships/notesMaster" Target="/ppt/notesMasters/notesMaster1.xml" Id="R0088475123de44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6d488a731472b" /><Relationship Type="http://schemas.openxmlformats.org/officeDocument/2006/relationships/notesMaster" Target="/ppt/notesMasters/notesMaster1.xml" Id="Rdc851c3664554d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ce40b78934199" /><Relationship Type="http://schemas.openxmlformats.org/officeDocument/2006/relationships/notesMaster" Target="/ppt/notesMasters/notesMaster1.xml" Id="Rba0042e170b9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36fc446f8d4b8e" /><Relationship Type="http://schemas.openxmlformats.org/officeDocument/2006/relationships/notesMaster" Target="/ppt/notesMasters/notesMaster1.xml" Id="R775fddac877541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621a6b3f444f2" /><Relationship Type="http://schemas.openxmlformats.org/officeDocument/2006/relationships/notesMaster" Target="/ppt/notesMasters/notesMaster1.xml" Id="R00827632dc1946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83f54f50af45b5" /><Relationship Type="http://schemas.openxmlformats.org/officeDocument/2006/relationships/notesMaster" Target="/ppt/notesMasters/notesMaster1.xml" Id="Ra5cdcd57751c4f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c2b26b90bc4920" /><Relationship Type="http://schemas.openxmlformats.org/officeDocument/2006/relationships/notesMaster" Target="/ppt/notesMasters/notesMaster1.xml" Id="R952132f185964f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a149439c20455a" /><Relationship Type="http://schemas.openxmlformats.org/officeDocument/2006/relationships/notesMaster" Target="/ppt/notesMasters/notesMaster1.xml" Id="Rdf44c75d3d0d4a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2959a7afc44d2" /><Relationship Type="http://schemas.openxmlformats.org/officeDocument/2006/relationships/notesMaster" Target="/ppt/notesMasters/notesMaster1.xml" Id="R401ee568e702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ccfd2a26e44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17eacdd0464c6d" /><Relationship Type="http://schemas.openxmlformats.org/officeDocument/2006/relationships/slideLayout" Target="/ppt/slideLayouts/slideLayout1.xml" Id="R98f9fd974d2b4d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9fd974d2b4d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2751675da4f17" /><Relationship Type="http://schemas.openxmlformats.org/officeDocument/2006/relationships/image" Target="/ppt/media/image.png" Id="Rf9c799ee86694c71" /><Relationship Type="http://schemas.openxmlformats.org/officeDocument/2006/relationships/notesSlide" Target="/ppt/notesSlides/notesSlide1.xml" Id="R5b1d271702fa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dc0e131f4d97" /><Relationship Type="http://schemas.openxmlformats.org/officeDocument/2006/relationships/image" Target="/ppt/media/image2.png" Id="Re8d8f28b463b423b" /><Relationship Type="http://schemas.openxmlformats.org/officeDocument/2006/relationships/notesSlide" Target="/ppt/notesSlides/notesSlide2.xml" Id="R9362930e7ae7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9e53db39f4be2" /><Relationship Type="http://schemas.openxmlformats.org/officeDocument/2006/relationships/image" Target="/ppt/media/image3.png" Id="R4f8d8b9d9913466f" /><Relationship Type="http://schemas.openxmlformats.org/officeDocument/2006/relationships/notesSlide" Target="/ppt/notesSlides/notesSlide3.xml" Id="R1cf17220bdc8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dc7e73ee646fc" /><Relationship Type="http://schemas.openxmlformats.org/officeDocument/2006/relationships/image" Target="/ppt/media/image4.png" Id="R8636eae9494c48a1" /><Relationship Type="http://schemas.openxmlformats.org/officeDocument/2006/relationships/notesSlide" Target="/ppt/notesSlides/notesSlide4.xml" Id="R299f14614a6f40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9e941cc7f45d1" /><Relationship Type="http://schemas.openxmlformats.org/officeDocument/2006/relationships/notesSlide" Target="/ppt/notesSlides/notesSlide5.xml" Id="Rc6d1119e2ceb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b814f0d114656" /><Relationship Type="http://schemas.openxmlformats.org/officeDocument/2006/relationships/notesSlide" Target="/ppt/notesSlides/notesSlide6.xml" Id="R7fb34a75f621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e86dce1d74407" /><Relationship Type="http://schemas.openxmlformats.org/officeDocument/2006/relationships/notesSlide" Target="/ppt/notesSlides/notesSlide7.xml" Id="R167081f4cb3f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49d67cfa64f28" /><Relationship Type="http://schemas.openxmlformats.org/officeDocument/2006/relationships/notesSlide" Target="/ppt/notesSlides/notesSlide8.xml" Id="Re208776c869646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5779b6c3347db" /><Relationship Type="http://schemas.openxmlformats.org/officeDocument/2006/relationships/notesSlide" Target="/ppt/notesSlides/notesSlide9.xml" Id="R0dcad7781aee4c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84023513d4e0a" /><Relationship Type="http://schemas.openxmlformats.org/officeDocument/2006/relationships/notesSlide" Target="/ppt/notesSlides/notesSlide10.xml" Id="Rc0880dadcd7242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6cfdc67854cbf" /><Relationship Type="http://schemas.openxmlformats.org/officeDocument/2006/relationships/notesSlide" Target="/ppt/notesSlides/notesSlide11.xml" Id="R08d7faf46f714b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799ee86694c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accent-line">
            <a:extLst xmlns:a="http://schemas.openxmlformats.org/drawingml/2006/main">
              <a:ext uri="{FF2B5EF4-FFF2-40B4-BE49-F238E27FC236}">
                <a16:creationId xmlns:a16="http://schemas.microsoft.com/office/drawing/2014/main" id="{DFD78975-764C-47DA-AE90-5567061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CFBF56A-4576-43E3-BC66-F9FB0FEA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AI INTERVIEW TRAINING SYSTEM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38C1B4B7-1937-4086-83C9-95D00CC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4429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233B"/>
                </a:solidFill>
              </a:defRPr>
            </a:pPr>
            <a:r>
              <a:rPr sz="4800" b="1">
                <a:solidFill>
                  <a:srgbClr val="16233B"/>
                </a:solidFill>
              </a:rPr>
              <a:t>智面幻境</a:t>
            </a:r>
          </a:p>
        </p:txBody>
      </p:sp>
      <p:sp>
        <p:nvSpPr>
          <p:cNvPr id="5" name="english-title">
            <a:extLst xmlns:a="http://schemas.openxmlformats.org/drawingml/2006/main">
              <a:ext uri="{FF2B5EF4-FFF2-40B4-BE49-F238E27FC236}">
                <a16:creationId xmlns:a16="http://schemas.microsoft.com/office/drawing/2014/main" id="{CE4A75CD-081C-4FAE-BD54-1FE45E91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977E8"/>
                </a:solidFill>
              </a:defRPr>
            </a:pPr>
            <a:r>
              <a:rPr sz="2550" b="1">
                <a:solidFill>
                  <a:srgbClr val="3977E8"/>
                </a:solidFill>
              </a:rPr>
              <a:t>OfferPilot</a:t>
            </a:r>
          </a:p>
        </p:txBody>
      </p:sp>
      <p:sp>
        <p:nvSpPr>
          <p:cNvPr id="6" name="subtitle-divider">
            <a:extLst xmlns:a="http://schemas.openxmlformats.org/drawingml/2006/main">
              <a:ext uri="{FF2B5EF4-FFF2-40B4-BE49-F238E27FC236}">
                <a16:creationId xmlns:a16="http://schemas.microsoft.com/office/drawing/2014/main" id="{2F014606-2B4A-4DFF-8072-BE803A6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327DBEA-181F-4565-A6D3-DC2D5CA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100" b="1">
                <a:solidFill>
                  <a:srgbClr val="273449"/>
                </a:solidFill>
              </a:defRPr>
            </a:pPr>
            <a:r>
              <a:rPr sz="2100" b="1">
                <a:solidFill>
                  <a:srgbClr val="273449"/>
                </a:solidFill>
              </a:rPr>
              <a:t>智能模拟面试系统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100" b="1">
                <a:solidFill>
                  <a:srgbClr val="273449"/>
                </a:solidFill>
              </a:defRPr>
            </a:pPr>
            <a:r>
              <a:rPr sz="2100" b="1">
                <a:solidFill>
                  <a:srgbClr val="273449"/>
                </a:solidFill>
              </a:rPr>
              <a:t>阶段进度汇报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ADE42CB-4BF6-4591-A5E3-694993B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510F9D-119E-4032-9969-06136DA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PROJECT PROGRESS REPORT · 2026</a:t>
            </a:r>
          </a:p>
        </p:txBody>
      </p:sp>
      <p:sp>
        <p:nvSpPr>
          <p:cNvPr id="10" name="footer-info-plate">
            <a:extLst xmlns:a="http://schemas.openxmlformats.org/drawingml/2006/main">
              <a:ext uri="{FF2B5EF4-FFF2-40B4-BE49-F238E27FC236}">
                <a16:creationId xmlns:a16="http://schemas.microsoft.com/office/drawing/2014/main" id="{BC96BEAC-695B-4FAF-978F-F35AB3CC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91225"/>
            <a:ext cx="3505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218D12B-C0B1-4942-890A-50BFD2A7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674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233B"/>
                </a:solidFill>
              </a:defRPr>
            </a:pPr>
            <a:r>
              <a:rPr sz="1275" b="1">
                <a:solidFill>
                  <a:srgbClr val="16233B"/>
                </a:solidFill>
              </a:rPr>
              <a:t>汇报人｜魏云聪     2026.07.27</a:t>
            </a:r>
          </a:p>
        </p:txBody>
      </p:sp>
    </p:spTree>
    <p:extLst>
      <p:ext uri="{BB962C8B-B14F-4D97-AF65-F5344CB8AC3E}">
        <p14:creationId xmlns:p14="http://schemas.microsoft.com/office/powerpoint/2010/main" val="1811224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8f28b463b42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2-eyebrow">
            <a:extLst xmlns:a="http://schemas.openxmlformats.org/drawingml/2006/main">
              <a:ext uri="{FF2B5EF4-FFF2-40B4-BE49-F238E27FC236}">
                <a16:creationId xmlns:a16="http://schemas.microsoft.com/office/drawing/2014/main" id="{A0C089B5-2B3B-48F6-9B75-E117B43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02 / PROJECT OVERVIEW</a:t>
            </a:r>
          </a:p>
        </p:txBody>
      </p:sp>
      <p:sp>
        <p:nvSpPr>
          <p:cNvPr id="3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5FD07FD4-1802-42D0-8E51-E6894357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33B"/>
                </a:solidFill>
              </a:defRPr>
            </a:pPr>
            <a:r>
              <a:rPr sz="2850" b="1">
                <a:solidFill>
                  <a:srgbClr val="16233B"/>
                </a:solidFill>
              </a:rPr>
              <a:t>项目正在搭建完整的智能模拟面试训练闭环</a:t>
            </a:r>
          </a:p>
        </p:txBody>
      </p:sp>
      <p:sp>
        <p:nvSpPr>
          <p:cNvPr id="4" name="slide2-title-accent">
            <a:extLst xmlns:a="http://schemas.openxmlformats.org/drawingml/2006/main">
              <a:ext uri="{FF2B5EF4-FFF2-40B4-BE49-F238E27FC236}">
                <a16:creationId xmlns:a16="http://schemas.microsoft.com/office/drawing/2014/main" id="{E4D2F3C0-8BAB-4EFF-8B50-2464CC8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01-panel">
            <a:extLst xmlns:a="http://schemas.openxmlformats.org/drawingml/2006/main">
              <a:ext uri="{FF2B5EF4-FFF2-40B4-BE49-F238E27FC236}">
                <a16:creationId xmlns:a16="http://schemas.microsoft.com/office/drawing/2014/main" id="{99AF3D79-FFC3-48AE-9495-B3CAD10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" name="stage-01-accent">
            <a:extLst xmlns:a="http://schemas.openxmlformats.org/drawingml/2006/main">
              <a:ext uri="{FF2B5EF4-FFF2-40B4-BE49-F238E27FC236}">
                <a16:creationId xmlns:a16="http://schemas.microsoft.com/office/drawing/2014/main" id="{E4BE7672-06CB-449B-876F-3B282A52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22188EB8-B6F1-40CE-9179-B81E9F8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977E8"/>
                </a:solidFill>
              </a:defRPr>
            </a:pPr>
            <a:r>
              <a:rPr sz="1425" b="1">
                <a:solidFill>
                  <a:srgbClr val="3977E8"/>
                </a:solidFill>
              </a:rPr>
              <a:t>01</a:t>
            </a:r>
          </a:p>
        </p:txBody>
      </p:sp>
      <p:sp>
        <p:nvSpPr>
          <p:cNvPr id="8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8C984E69-58FB-4F13-8AC6-46F0CC05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6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训练前</a:t>
            </a:r>
          </a:p>
        </p:txBody>
      </p:sp>
      <p:sp>
        <p:nvSpPr>
          <p:cNvPr id="9" name="stage-01-detail">
            <a:extLst xmlns:a="http://schemas.openxmlformats.org/drawingml/2006/main">
              <a:ext uri="{FF2B5EF4-FFF2-40B4-BE49-F238E27FC236}">
                <a16:creationId xmlns:a16="http://schemas.microsoft.com/office/drawing/2014/main" id="{A53C7E32-380D-4B31-AB32-FA44568E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2536A"/>
                </a:solidFill>
              </a:defRPr>
            </a:pPr>
            <a:r>
              <a:rPr sz="1200">
                <a:solidFill>
                  <a:srgbClr val="42536A"/>
                </a:solidFill>
              </a:rPr>
              <a:t>岗位选择｜简历上传与信息提取</a:t>
            </a:r>
          </a:p>
        </p:txBody>
      </p:sp>
      <p:sp>
        <p:nvSpPr>
          <p:cNvPr id="10" name="stage-02-panel">
            <a:extLst xmlns:a="http://schemas.openxmlformats.org/drawingml/2006/main">
              <a:ext uri="{FF2B5EF4-FFF2-40B4-BE49-F238E27FC236}">
                <a16:creationId xmlns:a16="http://schemas.microsoft.com/office/drawing/2014/main" id="{1504C072-11F5-4566-87CA-CDDEBAE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11" name="stage-02-accent">
            <a:extLst xmlns:a="http://schemas.openxmlformats.org/drawingml/2006/main">
              <a:ext uri="{FF2B5EF4-FFF2-40B4-BE49-F238E27FC236}">
                <a16:creationId xmlns:a16="http://schemas.microsoft.com/office/drawing/2014/main" id="{CDA910BE-97D9-4066-9680-3DE6E921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02-number">
            <a:extLst xmlns:a="http://schemas.openxmlformats.org/drawingml/2006/main">
              <a:ext uri="{FF2B5EF4-FFF2-40B4-BE49-F238E27FC236}">
                <a16:creationId xmlns:a16="http://schemas.microsoft.com/office/drawing/2014/main" id="{96884BDC-BCD2-496A-81CA-85349B1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04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C7B9"/>
                </a:solidFill>
              </a:defRPr>
            </a:pPr>
            <a:r>
              <a:rPr sz="1425" b="1">
                <a:solidFill>
                  <a:srgbClr val="42C7B9"/>
                </a:solidFill>
              </a:rPr>
              <a:t>02</a:t>
            </a:r>
          </a:p>
        </p:txBody>
      </p:sp>
      <p:sp>
        <p:nvSpPr>
          <p:cNvPr id="13" name="stage-02-title">
            <a:extLst xmlns:a="http://schemas.openxmlformats.org/drawingml/2006/main">
              <a:ext uri="{FF2B5EF4-FFF2-40B4-BE49-F238E27FC236}">
                <a16:creationId xmlns:a16="http://schemas.microsoft.com/office/drawing/2014/main" id="{5DCD5AC4-DD08-4BCF-9F0E-109941F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466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训练中</a:t>
            </a:r>
          </a:p>
        </p:txBody>
      </p:sp>
      <p:sp>
        <p:nvSpPr>
          <p:cNvPr id="14" name="stage-02-detail">
            <a:extLst xmlns:a="http://schemas.openxmlformats.org/drawingml/2006/main">
              <a:ext uri="{FF2B5EF4-FFF2-40B4-BE49-F238E27FC236}">
                <a16:creationId xmlns:a16="http://schemas.microsoft.com/office/drawing/2014/main" id="{355B824D-BC35-4B3C-B16D-A86DEB7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57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2536A"/>
                </a:solidFill>
              </a:defRPr>
            </a:pPr>
            <a:r>
              <a:rPr sz="1200">
                <a:solidFill>
                  <a:srgbClr val="42536A"/>
                </a:solidFill>
              </a:rPr>
              <a:t>AI 提问｜语音作答｜动态追问</a:t>
            </a:r>
          </a:p>
        </p:txBody>
      </p:sp>
      <p:sp>
        <p:nvSpPr>
          <p:cNvPr id="15" name="stage-03-panel">
            <a:extLst xmlns:a="http://schemas.openxmlformats.org/drawingml/2006/main">
              <a:ext uri="{FF2B5EF4-FFF2-40B4-BE49-F238E27FC236}">
                <a16:creationId xmlns:a16="http://schemas.microsoft.com/office/drawing/2014/main" id="{E8FF8FB7-CE5C-4BF4-8D5F-84ACCC7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33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16" name="stage-03-accent">
            <a:extLst xmlns:a="http://schemas.openxmlformats.org/drawingml/2006/main">
              <a:ext uri="{FF2B5EF4-FFF2-40B4-BE49-F238E27FC236}">
                <a16:creationId xmlns:a16="http://schemas.microsoft.com/office/drawing/2014/main" id="{7F0EEAF6-4A23-42C9-A4CD-DC470B0A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BB10B939-45EC-4194-856A-8009427C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A65A"/>
                </a:solidFill>
              </a:defRPr>
            </a:pPr>
            <a:r>
              <a:rPr sz="1425" b="1">
                <a:solidFill>
                  <a:srgbClr val="F2A65A"/>
                </a:solidFill>
              </a:rPr>
              <a:t>03</a:t>
            </a:r>
          </a:p>
        </p:txBody>
      </p:sp>
      <p:sp>
        <p:nvSpPr>
          <p:cNvPr id="18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7C2209F0-4145-494E-8626-616C347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训练后</a:t>
            </a:r>
          </a:p>
        </p:txBody>
      </p:sp>
      <p:sp>
        <p:nvSpPr>
          <p:cNvPr id="19" name="stage-03-detail">
            <a:extLst xmlns:a="http://schemas.openxmlformats.org/drawingml/2006/main">
              <a:ext uri="{FF2B5EF4-FFF2-40B4-BE49-F238E27FC236}">
                <a16:creationId xmlns:a16="http://schemas.microsoft.com/office/drawing/2014/main" id="{F6424F4D-036E-4937-A6B1-459460E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2536A"/>
                </a:solidFill>
              </a:defRPr>
            </a:pPr>
            <a:r>
              <a:rPr sz="1200">
                <a:solidFill>
                  <a:srgbClr val="42536A"/>
                </a:solidFill>
              </a:rPr>
              <a:t>能力评分｜面试报告｜教师查看</a:t>
            </a:r>
          </a:p>
        </p:txBody>
      </p:sp>
      <p:sp>
        <p:nvSpPr>
          <p:cNvPr id="20" name="slide2-takeaway-panel">
            <a:extLst xmlns:a="http://schemas.openxmlformats.org/drawingml/2006/main">
              <a:ext uri="{FF2B5EF4-FFF2-40B4-BE49-F238E27FC236}">
                <a16:creationId xmlns:a16="http://schemas.microsoft.com/office/drawing/2014/main" id="{35B6DB42-54F4-42FB-BF5B-CB5689DB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21" name="slide2-takeaway-accent">
            <a:extLst xmlns:a="http://schemas.openxmlformats.org/drawingml/2006/main">
              <a:ext uri="{FF2B5EF4-FFF2-40B4-BE49-F238E27FC236}">
                <a16:creationId xmlns:a16="http://schemas.microsoft.com/office/drawing/2014/main" id="{ED9B2FEF-9123-401C-A70C-F1DB5550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01AF39A8-CDC9-45DA-8C7E-EE0C16E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43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EF4FA"/>
                </a:solidFill>
              </a:defRPr>
            </a:pPr>
            <a:r>
              <a:rPr sz="1500" b="1">
                <a:solidFill>
                  <a:srgbClr val="EEF4FA"/>
                </a:solidFill>
              </a:rPr>
              <a:t>目标不是单一问答工具，而是形成“准备—训练—反馈—改进”的完整链路。</a:t>
            </a:r>
          </a:p>
        </p:txBody>
      </p:sp>
      <p:sp>
        <p:nvSpPr>
          <p:cNvPr id="23" name="slide2-page-number">
            <a:extLst xmlns:a="http://schemas.openxmlformats.org/drawingml/2006/main">
              <a:ext uri="{FF2B5EF4-FFF2-40B4-BE49-F238E27FC236}">
                <a16:creationId xmlns:a16="http://schemas.microsoft.com/office/drawing/2014/main" id="{7C25967A-ECE7-4A9A-9F99-97CA85A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53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C7B9"/>
                </a:solidFill>
              </a:defRPr>
            </a:pPr>
            <a:r>
              <a:rPr sz="1275" b="1">
                <a:solidFill>
                  <a:srgbClr val="42C7B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1304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d8b9d991346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3-eyebrow">
            <a:extLst xmlns:a="http://schemas.openxmlformats.org/drawingml/2006/main">
              <a:ext uri="{FF2B5EF4-FFF2-40B4-BE49-F238E27FC236}">
                <a16:creationId xmlns:a16="http://schemas.microsoft.com/office/drawing/2014/main" id="{6E5C14C9-59A7-4DCA-9E7F-FFDC600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03 / FUNCTIONAL FRAMEWORK</a:t>
            </a:r>
          </a:p>
        </p:txBody>
      </p:sp>
      <p:sp>
        <p:nvSpPr>
          <p:cNvPr id="3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C8046FDA-70E1-4D8C-84B7-74FC1FF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33B"/>
                </a:solidFill>
              </a:defRPr>
            </a:pPr>
            <a:r>
              <a:rPr sz="2850" b="1">
                <a:solidFill>
                  <a:srgbClr val="16233B"/>
                </a:solidFill>
              </a:rPr>
              <a:t>学生端与教师端已形成双角色功能框架</a:t>
            </a:r>
          </a:p>
        </p:txBody>
      </p:sp>
      <p:sp>
        <p:nvSpPr>
          <p:cNvPr id="4" name="slide3-title-accent">
            <a:extLst xmlns:a="http://schemas.openxmlformats.org/drawingml/2006/main">
              <a:ext uri="{FF2B5EF4-FFF2-40B4-BE49-F238E27FC236}">
                <a16:creationId xmlns:a16="http://schemas.microsoft.com/office/drawing/2014/main" id="{4B0E292D-DAF3-45C9-A775-238A87AB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3-flow-label">
            <a:extLst xmlns:a="http://schemas.openxmlformats.org/drawingml/2006/main">
              <a:ext uri="{FF2B5EF4-FFF2-40B4-BE49-F238E27FC236}">
                <a16:creationId xmlns:a16="http://schemas.microsoft.com/office/drawing/2014/main" id="{3827A8D3-C188-4C20-BD51-8F2FE23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62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42C7B9"/>
            </a:solidFill>
            <a:prstDash val="solid"/>
          </a:ln>
        </p:spPr>
      </p:sp>
      <p:sp>
        <p:nvSpPr>
          <p:cNvPr id="6" name="slide3-flow-text">
            <a:extLst xmlns:a="http://schemas.openxmlformats.org/drawingml/2006/main">
              <a:ext uri="{FF2B5EF4-FFF2-40B4-BE49-F238E27FC236}">
                <a16:creationId xmlns:a16="http://schemas.microsoft.com/office/drawing/2014/main" id="{CF20DA77-5704-4052-B2CD-A010D29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57675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F4FA"/>
                </a:solidFill>
              </a:defRPr>
            </a:pPr>
            <a:r>
              <a:rPr sz="1275" b="1">
                <a:solidFill>
                  <a:srgbClr val="EEF4FA"/>
                </a:solidFill>
              </a:rPr>
              <a:t>训练数据 → 统计分析 → 教学指导</a:t>
            </a:r>
          </a:p>
        </p:txBody>
      </p:sp>
      <p:sp>
        <p:nvSpPr>
          <p:cNvPr id="7" name="slide3-student-heading">
            <a:extLst xmlns:a="http://schemas.openxmlformats.org/drawingml/2006/main">
              <a:ext uri="{FF2B5EF4-FFF2-40B4-BE49-F238E27FC236}">
                <a16:creationId xmlns:a16="http://schemas.microsoft.com/office/drawing/2014/main" id="{5EBAB58F-83C7-4FA6-8663-E01011A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77E8"/>
                </a:solidFill>
              </a:defRPr>
            </a:pPr>
            <a:r>
              <a:rPr sz="1725" b="1">
                <a:solidFill>
                  <a:srgbClr val="3977E8"/>
                </a:solidFill>
              </a:rPr>
              <a:t>学生端｜自主训练</a:t>
            </a:r>
          </a:p>
        </p:txBody>
      </p:sp>
      <p:sp>
        <p:nvSpPr>
          <p:cNvPr id="8" name="slide3-student-list">
            <a:extLst xmlns:a="http://schemas.openxmlformats.org/drawingml/2006/main">
              <a:ext uri="{FF2B5EF4-FFF2-40B4-BE49-F238E27FC236}">
                <a16:creationId xmlns:a16="http://schemas.microsoft.com/office/drawing/2014/main" id="{629E5BF4-F680-44D8-A22E-BB97EA0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01  账号与个人资料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02  岗位选择与简历管理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03  AI 模拟面试与语音交互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04  历史记录与能力报告</a:t>
            </a:r>
          </a:p>
        </p:txBody>
      </p:sp>
      <p:sp>
        <p:nvSpPr>
          <p:cNvPr id="9" name="slide3-teacher-heading">
            <a:extLst xmlns:a="http://schemas.openxmlformats.org/drawingml/2006/main">
              <a:ext uri="{FF2B5EF4-FFF2-40B4-BE49-F238E27FC236}">
                <a16:creationId xmlns:a16="http://schemas.microsoft.com/office/drawing/2014/main" id="{561E2A5B-6B49-4869-A769-A283A89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AFA4"/>
                </a:solidFill>
              </a:defRPr>
            </a:pPr>
            <a:r>
              <a:rPr sz="1725" b="1">
                <a:solidFill>
                  <a:srgbClr val="2AAFA4"/>
                </a:solidFill>
              </a:rPr>
              <a:t>教师端｜数据指导</a:t>
            </a:r>
          </a:p>
        </p:txBody>
      </p:sp>
      <p:sp>
        <p:nvSpPr>
          <p:cNvPr id="10" name="slide3-teacher-list">
            <a:extLst xmlns:a="http://schemas.openxmlformats.org/drawingml/2006/main">
              <a:ext uri="{FF2B5EF4-FFF2-40B4-BE49-F238E27FC236}">
                <a16:creationId xmlns:a16="http://schemas.microsoft.com/office/drawing/2014/main" id="{24629444-50BF-4CB6-BAA6-9AED4EC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020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01  班级与学生概览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02  训练趋势与共性问题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03  学生能力报告查看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04  训练任务与教学指导</a:t>
            </a:r>
          </a:p>
        </p:txBody>
      </p:sp>
      <p:sp>
        <p:nvSpPr>
          <p:cNvPr id="11" name="slide3-page-number">
            <a:extLst xmlns:a="http://schemas.openxmlformats.org/drawingml/2006/main">
              <a:ext uri="{FF2B5EF4-FFF2-40B4-BE49-F238E27FC236}">
                <a16:creationId xmlns:a16="http://schemas.microsoft.com/office/drawing/2014/main" id="{FA46306D-D828-4139-B9B5-2EF9536C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400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2417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6eae9494c48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4-eyebrow">
            <a:extLst xmlns:a="http://schemas.openxmlformats.org/drawingml/2006/main">
              <a:ext uri="{FF2B5EF4-FFF2-40B4-BE49-F238E27FC236}">
                <a16:creationId xmlns:a16="http://schemas.microsoft.com/office/drawing/2014/main" id="{35B442CE-4662-4B35-AA89-56729AA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04 / TECHNICAL ARCHITECTURE</a:t>
            </a:r>
          </a:p>
        </p:txBody>
      </p:sp>
      <p:sp>
        <p:nvSpPr>
          <p:cNvPr id="3" name="slide4-title">
            <a:extLst xmlns:a="http://schemas.openxmlformats.org/drawingml/2006/main">
              <a:ext uri="{FF2B5EF4-FFF2-40B4-BE49-F238E27FC236}">
                <a16:creationId xmlns:a16="http://schemas.microsoft.com/office/drawing/2014/main" id="{995DBF69-20B6-4BEB-BCC7-03C2027D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33B"/>
                </a:solidFill>
              </a:defRPr>
            </a:pPr>
            <a:r>
              <a:rPr sz="2700" b="1">
                <a:solidFill>
                  <a:srgbClr val="16233B"/>
                </a:solidFill>
              </a:rPr>
              <a:t>前端、业务后端与数字人服务已完成分层搭建</a:t>
            </a:r>
          </a:p>
        </p:txBody>
      </p:sp>
      <p:sp>
        <p:nvSpPr>
          <p:cNvPr id="4" name="slide4-title-accent">
            <a:extLst xmlns:a="http://schemas.openxmlformats.org/drawingml/2006/main">
              <a:ext uri="{FF2B5EF4-FFF2-40B4-BE49-F238E27FC236}">
                <a16:creationId xmlns:a16="http://schemas.microsoft.com/office/drawing/2014/main" id="{29D7F408-129D-4A59-8571-3FA6057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4-layer1-title">
            <a:extLst xmlns:a="http://schemas.openxmlformats.org/drawingml/2006/main">
              <a:ext uri="{FF2B5EF4-FFF2-40B4-BE49-F238E27FC236}">
                <a16:creationId xmlns:a16="http://schemas.microsoft.com/office/drawing/2014/main" id="{5089E534-5CA6-429D-AD35-682F183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展示层</a:t>
            </a:r>
          </a:p>
        </p:txBody>
      </p:sp>
      <p:sp>
        <p:nvSpPr>
          <p:cNvPr id="6" name="slide4-layer1-detail">
            <a:extLst xmlns:a="http://schemas.openxmlformats.org/drawingml/2006/main">
              <a:ext uri="{FF2B5EF4-FFF2-40B4-BE49-F238E27FC236}">
                <a16:creationId xmlns:a16="http://schemas.microsoft.com/office/drawing/2014/main" id="{E9DC7AC9-5052-49CA-9574-9154CEB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Vue 3 · Vite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Pinia · Router</a:t>
            </a:r>
          </a:p>
        </p:txBody>
      </p:sp>
      <p:sp>
        <p:nvSpPr>
          <p:cNvPr id="7" name="slide4-layer2-title">
            <a:extLst xmlns:a="http://schemas.openxmlformats.org/drawingml/2006/main">
              <a:ext uri="{FF2B5EF4-FFF2-40B4-BE49-F238E27FC236}">
                <a16:creationId xmlns:a16="http://schemas.microsoft.com/office/drawing/2014/main" id="{B158D0BA-F7F4-40A5-B2BF-9140E6B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E8C"/>
                </a:solidFill>
              </a:defRPr>
            </a:pPr>
            <a:r>
              <a:rPr sz="1725" b="1">
                <a:solidFill>
                  <a:srgbClr val="168E8C"/>
                </a:solidFill>
              </a:rPr>
              <a:t>业务服务层</a:t>
            </a:r>
          </a:p>
        </p:txBody>
      </p:sp>
      <p:sp>
        <p:nvSpPr>
          <p:cNvPr id="8" name="slide4-layer2-detail">
            <a:extLst xmlns:a="http://schemas.openxmlformats.org/drawingml/2006/main">
              <a:ext uri="{FF2B5EF4-FFF2-40B4-BE49-F238E27FC236}">
                <a16:creationId xmlns:a16="http://schemas.microsoft.com/office/drawing/2014/main" id="{253431ED-F642-42BE-BEEB-D54D45F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Spring Boot 3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REST API · JWT</a:t>
            </a:r>
          </a:p>
        </p:txBody>
      </p:sp>
      <p:sp>
        <p:nvSpPr>
          <p:cNvPr id="9" name="slide4-layer3-title">
            <a:extLst xmlns:a="http://schemas.openxmlformats.org/drawingml/2006/main">
              <a:ext uri="{FF2B5EF4-FFF2-40B4-BE49-F238E27FC236}">
                <a16:creationId xmlns:a16="http://schemas.microsoft.com/office/drawing/2014/main" id="{E99EE4C2-D453-4551-A869-06580850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977E8"/>
                </a:solidFill>
              </a:defRPr>
            </a:pPr>
            <a:r>
              <a:rPr sz="1725" b="1">
                <a:solidFill>
                  <a:srgbClr val="3977E8"/>
                </a:solidFill>
              </a:rPr>
              <a:t>智能能力层</a:t>
            </a:r>
          </a:p>
        </p:txBody>
      </p:sp>
      <p:sp>
        <p:nvSpPr>
          <p:cNvPr id="10" name="slide4-layer3-detail">
            <a:extLst xmlns:a="http://schemas.openxmlformats.org/drawingml/2006/main">
              <a:ext uri="{FF2B5EF4-FFF2-40B4-BE49-F238E27FC236}">
                <a16:creationId xmlns:a16="http://schemas.microsoft.com/office/drawing/2014/main" id="{D122AF6D-0276-486B-94E3-A3B4AA1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DeepSeek · ASR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42536A"/>
                </a:solidFill>
              </a:defRPr>
            </a:pPr>
            <a:r>
              <a:rPr sz="1200" b="1">
                <a:solidFill>
                  <a:srgbClr val="42536A"/>
                </a:solidFill>
              </a:rPr>
              <a:t>追问 · 简历分析</a:t>
            </a:r>
          </a:p>
        </p:txBody>
      </p:sp>
      <p:sp>
        <p:nvSpPr>
          <p:cNvPr id="11" name="slide4-layer4-title">
            <a:extLst xmlns:a="http://schemas.openxmlformats.org/drawingml/2006/main">
              <a:ext uri="{FF2B5EF4-FFF2-40B4-BE49-F238E27FC236}">
                <a16:creationId xmlns:a16="http://schemas.microsoft.com/office/drawing/2014/main" id="{1921BEAF-DFC3-461A-907F-6DEFD18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222"/>
                </a:solidFill>
              </a:defRPr>
            </a:pPr>
            <a:r>
              <a:rPr sz="1650" b="1">
                <a:solidFill>
                  <a:srgbClr val="D98222"/>
                </a:solidFill>
              </a:rPr>
              <a:t>数据与数字人层</a:t>
            </a:r>
          </a:p>
        </p:txBody>
      </p:sp>
      <p:sp>
        <p:nvSpPr>
          <p:cNvPr id="12" name="slide4-layer4-detail">
            <a:extLst xmlns:a="http://schemas.openxmlformats.org/drawingml/2006/main">
              <a:ext uri="{FF2B5EF4-FFF2-40B4-BE49-F238E27FC236}">
                <a16:creationId xmlns:a16="http://schemas.microsoft.com/office/drawing/2014/main" id="{9EAC5818-0F2E-4C38-AF93-90E8F7A4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1">
                <a:solidFill>
                  <a:srgbClr val="42536A"/>
                </a:solidFill>
              </a:defRPr>
            </a:pPr>
            <a:r>
              <a:rPr sz="1125" b="1">
                <a:solidFill>
                  <a:srgbClr val="42536A"/>
                </a:solidFill>
              </a:rPr>
              <a:t>MySQL · MyBatis-Plus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125" b="1">
                <a:solidFill>
                  <a:srgbClr val="42536A"/>
                </a:solidFill>
              </a:defRPr>
            </a:pPr>
            <a:r>
              <a:rPr sz="1125" b="1">
                <a:solidFill>
                  <a:srgbClr val="42536A"/>
                </a:solidFill>
              </a:rPr>
              <a:t>LiveTalking · WebRTC</a:t>
            </a:r>
          </a:p>
        </p:txBody>
      </p:sp>
      <p:sp>
        <p:nvSpPr>
          <p:cNvPr id="13" name="slide4-page-number">
            <a:extLst xmlns:a="http://schemas.openxmlformats.org/drawingml/2006/main">
              <a:ext uri="{FF2B5EF4-FFF2-40B4-BE49-F238E27FC236}">
                <a16:creationId xmlns:a16="http://schemas.microsoft.com/office/drawing/2014/main" id="{8133BF8C-9FEA-479A-AA58-F05040A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4057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6E276E-FF54-4724-8289-42B7EF2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D3233-0092-4514-80A6-58C4258E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3BB7C-1D1F-43EE-832D-9CF8A9B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B722E-173C-4B08-B7E3-764E0E4A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5235A-8EB6-4659-97A9-F4524E0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D6320-495B-413B-B111-2AE70FBE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0B602-8CFA-499E-8CF5-0137EFC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DF17C-2D15-4046-97AE-0E037452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6C272-A692-4B82-AB6E-2C1E1EC7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19464-27D7-4C9C-B91F-D6B9D48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FB22A-95D8-440A-BDEB-013BEE37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03DFB-6263-438D-AB3F-1FB5127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FAB9F-1C70-46D3-BFD1-D046469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C5A5-7E54-4359-B3FD-67161D2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9A848-D0FC-4692-A993-A882B69E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76ECA-EA5C-40CE-B08C-D9AC92A8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3D9BB-611C-4CB0-9ED7-728BA9B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EA7EE-1B32-46AE-9480-B98C58D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0B4C1-8023-4732-94F6-7DDA5CD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89FBB-46F7-4866-ABA5-F05A8A36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F93EC-13E2-4EA7-895B-0EA8676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37677-BB7C-474F-B008-30D46FAB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99711-DDFF-4EC6-AE4A-FA4D4458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CA0A1-0FF6-469A-89FC-C99F2CFC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3CF44-2CAF-463F-A266-BB9593E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58A8A-E545-4263-9E7E-80D0AC0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44C21-5DE2-447E-8D5A-5229517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88AB9-5EAC-436C-A3A1-FF3A1081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2B2F4-60F2-48F2-B0F1-AF5457D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E8DCA-418B-4835-A501-6FBAA7E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DF4659-CA37-499A-9770-5FA8379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B8CBD-D15E-485C-9E6B-1C786CE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25821-16E8-4726-B817-FBF85955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A0A02-E2BF-424C-B4CA-716388D6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ABDE8-5148-482F-B29E-D32E23DF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9D2BF-F7D1-4A66-A00D-56DFAF2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5">
            <a:extLst xmlns:a="http://schemas.openxmlformats.org/drawingml/2006/main">
              <a:ext uri="{FF2B5EF4-FFF2-40B4-BE49-F238E27FC236}">
                <a16:creationId xmlns:a16="http://schemas.microsoft.com/office/drawing/2014/main" id="{BD2C76F3-00EF-4F63-B587-67E42B10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05</a:t>
            </a:r>
          </a:p>
        </p:txBody>
      </p:sp>
      <p:sp>
        <p:nvSpPr>
          <p:cNvPr id="38" name="slide5-eyebrow">
            <a:extLst xmlns:a="http://schemas.openxmlformats.org/drawingml/2006/main">
              <a:ext uri="{FF2B5EF4-FFF2-40B4-BE49-F238E27FC236}">
                <a16:creationId xmlns:a16="http://schemas.microsoft.com/office/drawing/2014/main" id="{C814FFCD-2D03-420B-A476-46F401B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05 / CORE WORKFLOW</a:t>
            </a:r>
          </a:p>
        </p:txBody>
      </p:sp>
      <p:sp>
        <p:nvSpPr>
          <p:cNvPr id="39" name="slide5-title">
            <a:extLst xmlns:a="http://schemas.openxmlformats.org/drawingml/2006/main">
              <a:ext uri="{FF2B5EF4-FFF2-40B4-BE49-F238E27FC236}">
                <a16:creationId xmlns:a16="http://schemas.microsoft.com/office/drawing/2014/main" id="{A1C1508C-48F3-497C-A90B-D1FF5269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模拟面试主流程已覆盖从建档到报告生成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ED741A-5848-43DC-86CF-2032E320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532B88-54B0-47B4-947C-B6FFB2A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42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3C6593-36B2-4DA7-A665-FF830AD7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42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low-01">
            <a:extLst xmlns:a="http://schemas.openxmlformats.org/drawingml/2006/main">
              <a:ext uri="{FF2B5EF4-FFF2-40B4-BE49-F238E27FC236}">
                <a16:creationId xmlns:a16="http://schemas.microsoft.com/office/drawing/2014/main" id="{6EDE93BD-2FDD-48E6-9054-A7B2A77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D1E74B-BDF7-4494-990F-DB0394DE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low-num-01">
            <a:extLst xmlns:a="http://schemas.openxmlformats.org/drawingml/2006/main">
              <a:ext uri="{FF2B5EF4-FFF2-40B4-BE49-F238E27FC236}">
                <a16:creationId xmlns:a16="http://schemas.microsoft.com/office/drawing/2014/main" id="{834D0A1D-945E-4722-A21E-69E256C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288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01</a:t>
            </a:r>
          </a:p>
        </p:txBody>
      </p:sp>
      <p:sp>
        <p:nvSpPr>
          <p:cNvPr id="46" name="flow-title-01">
            <a:extLst xmlns:a="http://schemas.openxmlformats.org/drawingml/2006/main">
              <a:ext uri="{FF2B5EF4-FFF2-40B4-BE49-F238E27FC236}">
                <a16:creationId xmlns:a16="http://schemas.microsoft.com/office/drawing/2014/main" id="{5EC88A08-F0E4-42D4-AA64-91213E1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43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登录注册</a:t>
            </a:r>
          </a:p>
        </p:txBody>
      </p:sp>
      <p:sp>
        <p:nvSpPr>
          <p:cNvPr id="47" name="flow-detail-01">
            <a:extLst xmlns:a="http://schemas.openxmlformats.org/drawingml/2006/main">
              <a:ext uri="{FF2B5EF4-FFF2-40B4-BE49-F238E27FC236}">
                <a16:creationId xmlns:a16="http://schemas.microsoft.com/office/drawing/2014/main" id="{A662F60E-2646-4582-A14F-A030CBF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建立用户身份</a:t>
            </a:r>
          </a:p>
        </p:txBody>
      </p:sp>
      <p:sp>
        <p:nvSpPr>
          <p:cNvPr id="48" name="flow-02">
            <a:extLst xmlns:a="http://schemas.openxmlformats.org/drawingml/2006/main">
              <a:ext uri="{FF2B5EF4-FFF2-40B4-BE49-F238E27FC236}">
                <a16:creationId xmlns:a16="http://schemas.microsoft.com/office/drawing/2014/main" id="{301056B9-EB3D-431B-8926-175D293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526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8E28E5-ECCF-4E64-9D80-47E8990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low-num-02">
            <a:extLst xmlns:a="http://schemas.openxmlformats.org/drawingml/2006/main">
              <a:ext uri="{FF2B5EF4-FFF2-40B4-BE49-F238E27FC236}">
                <a16:creationId xmlns:a16="http://schemas.microsoft.com/office/drawing/2014/main" id="{BC545D28-A486-42B6-A172-D89E8EA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288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02</a:t>
            </a:r>
          </a:p>
        </p:txBody>
      </p:sp>
      <p:sp>
        <p:nvSpPr>
          <p:cNvPr id="51" name="flow-title-02">
            <a:extLst xmlns:a="http://schemas.openxmlformats.org/drawingml/2006/main">
              <a:ext uri="{FF2B5EF4-FFF2-40B4-BE49-F238E27FC236}">
                <a16:creationId xmlns:a16="http://schemas.microsoft.com/office/drawing/2014/main" id="{43754979-43B8-49B8-8F28-A079CFD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选择岗位</a:t>
            </a:r>
          </a:p>
        </p:txBody>
      </p:sp>
      <p:sp>
        <p:nvSpPr>
          <p:cNvPr id="52" name="flow-detail-02">
            <a:extLst xmlns:a="http://schemas.openxmlformats.org/drawingml/2006/main">
              <a:ext uri="{FF2B5EF4-FFF2-40B4-BE49-F238E27FC236}">
                <a16:creationId xmlns:a16="http://schemas.microsoft.com/office/drawing/2014/main" id="{C00E21B0-FA0F-4F53-B6C8-CF87E2C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确定训练目标</a:t>
            </a:r>
          </a:p>
        </p:txBody>
      </p:sp>
      <p:sp>
        <p:nvSpPr>
          <p:cNvPr id="53" name="flow-03">
            <a:extLst xmlns:a="http://schemas.openxmlformats.org/drawingml/2006/main">
              <a:ext uri="{FF2B5EF4-FFF2-40B4-BE49-F238E27FC236}">
                <a16:creationId xmlns:a16="http://schemas.microsoft.com/office/drawing/2014/main" id="{FE772FD9-BABD-40CE-8751-C4646E6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317C15-D785-4264-804C-CB0F7AB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flow-num-03">
            <a:extLst xmlns:a="http://schemas.openxmlformats.org/drawingml/2006/main">
              <a:ext uri="{FF2B5EF4-FFF2-40B4-BE49-F238E27FC236}">
                <a16:creationId xmlns:a16="http://schemas.microsoft.com/office/drawing/2014/main" id="{DD90EC1D-7798-4359-AB88-213406F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288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03</a:t>
            </a:r>
          </a:p>
        </p:txBody>
      </p:sp>
      <p:sp>
        <p:nvSpPr>
          <p:cNvPr id="56" name="flow-title-03">
            <a:extLst xmlns:a="http://schemas.openxmlformats.org/drawingml/2006/main">
              <a:ext uri="{FF2B5EF4-FFF2-40B4-BE49-F238E27FC236}">
                <a16:creationId xmlns:a16="http://schemas.microsoft.com/office/drawing/2014/main" id="{7C2C9333-A469-4A87-B2E4-D9FE835C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完善简历</a:t>
            </a:r>
          </a:p>
        </p:txBody>
      </p:sp>
      <p:sp>
        <p:nvSpPr>
          <p:cNvPr id="57" name="flow-detail-03">
            <a:extLst xmlns:a="http://schemas.openxmlformats.org/drawingml/2006/main">
              <a:ext uri="{FF2B5EF4-FFF2-40B4-BE49-F238E27FC236}">
                <a16:creationId xmlns:a16="http://schemas.microsoft.com/office/drawing/2014/main" id="{83D03B19-9B84-465D-A2AC-60C71FA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形成个人画像</a:t>
            </a:r>
          </a:p>
        </p:txBody>
      </p:sp>
      <p:sp>
        <p:nvSpPr>
          <p:cNvPr id="58" name="flow-04">
            <a:extLst xmlns:a="http://schemas.openxmlformats.org/drawingml/2006/main">
              <a:ext uri="{FF2B5EF4-FFF2-40B4-BE49-F238E27FC236}">
                <a16:creationId xmlns:a16="http://schemas.microsoft.com/office/drawing/2014/main" id="{88A1EC74-59C2-487C-B937-1DE9C90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26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293BDF-0D2D-4D1F-8A2A-592A4C6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43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flow-num-04">
            <a:extLst xmlns:a="http://schemas.openxmlformats.org/drawingml/2006/main">
              <a:ext uri="{FF2B5EF4-FFF2-40B4-BE49-F238E27FC236}">
                <a16:creationId xmlns:a16="http://schemas.microsoft.com/office/drawing/2014/main" id="{089AD22E-44D0-46F2-9A0D-0D7F43A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288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04</a:t>
            </a:r>
          </a:p>
        </p:txBody>
      </p:sp>
      <p:sp>
        <p:nvSpPr>
          <p:cNvPr id="61" name="flow-title-04">
            <a:extLst xmlns:a="http://schemas.openxmlformats.org/drawingml/2006/main">
              <a:ext uri="{FF2B5EF4-FFF2-40B4-BE49-F238E27FC236}">
                <a16:creationId xmlns:a16="http://schemas.microsoft.com/office/drawing/2014/main" id="{5D64C0FE-3722-4296-BA7C-CB1343AB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43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开始面试</a:t>
            </a:r>
          </a:p>
        </p:txBody>
      </p:sp>
      <p:sp>
        <p:nvSpPr>
          <p:cNvPr id="62" name="flow-detail-04">
            <a:extLst xmlns:a="http://schemas.openxmlformats.org/drawingml/2006/main">
              <a:ext uri="{FF2B5EF4-FFF2-40B4-BE49-F238E27FC236}">
                <a16:creationId xmlns:a16="http://schemas.microsoft.com/office/drawing/2014/main" id="{36564656-365A-480E-BD58-062D1C4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匹配题目与场景</a:t>
            </a:r>
          </a:p>
        </p:txBody>
      </p:sp>
      <p:sp>
        <p:nvSpPr>
          <p:cNvPr id="63" name="flow-05">
            <a:extLst xmlns:a="http://schemas.openxmlformats.org/drawingml/2006/main">
              <a:ext uri="{FF2B5EF4-FFF2-40B4-BE49-F238E27FC236}">
                <a16:creationId xmlns:a16="http://schemas.microsoft.com/office/drawing/2014/main" id="{236D849F-F4B7-4383-A995-7B111B4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957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700103-C07D-4C79-BC97-1F28FD0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flow-num-05">
            <a:extLst xmlns:a="http://schemas.openxmlformats.org/drawingml/2006/main">
              <a:ext uri="{FF2B5EF4-FFF2-40B4-BE49-F238E27FC236}">
                <a16:creationId xmlns:a16="http://schemas.microsoft.com/office/drawing/2014/main" id="{D1F65E36-4FEF-4053-BF1A-7AC8B8E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05</a:t>
            </a:r>
          </a:p>
        </p:txBody>
      </p:sp>
      <p:sp>
        <p:nvSpPr>
          <p:cNvPr id="66" name="flow-title-05">
            <a:extLst xmlns:a="http://schemas.openxmlformats.org/drawingml/2006/main">
              <a:ext uri="{FF2B5EF4-FFF2-40B4-BE49-F238E27FC236}">
                <a16:creationId xmlns:a16="http://schemas.microsoft.com/office/drawing/2014/main" id="{A8109579-891D-4060-80D9-3A64491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86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回答追问</a:t>
            </a:r>
          </a:p>
        </p:txBody>
      </p:sp>
      <p:sp>
        <p:nvSpPr>
          <p:cNvPr id="67" name="flow-detail-05">
            <a:extLst xmlns:a="http://schemas.openxmlformats.org/drawingml/2006/main">
              <a:ext uri="{FF2B5EF4-FFF2-40B4-BE49-F238E27FC236}">
                <a16:creationId xmlns:a16="http://schemas.microsoft.com/office/drawing/2014/main" id="{A17B1484-C74E-4ECB-9F41-6BD35D51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保持上下文连续</a:t>
            </a:r>
          </a:p>
        </p:txBody>
      </p:sp>
      <p:sp>
        <p:nvSpPr>
          <p:cNvPr id="68" name="flow-06">
            <a:extLst xmlns:a="http://schemas.openxmlformats.org/drawingml/2006/main">
              <a:ext uri="{FF2B5EF4-FFF2-40B4-BE49-F238E27FC236}">
                <a16:creationId xmlns:a16="http://schemas.microsoft.com/office/drawing/2014/main" id="{BEB65ED2-EF05-4712-A1E7-0D3E621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776B3A-3283-4FBD-8F1D-C52E1214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flow-num-06">
            <a:extLst xmlns:a="http://schemas.openxmlformats.org/drawingml/2006/main">
              <a:ext uri="{FF2B5EF4-FFF2-40B4-BE49-F238E27FC236}">
                <a16:creationId xmlns:a16="http://schemas.microsoft.com/office/drawing/2014/main" id="{0742AB89-21E0-4C86-825C-9A6FF04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06</a:t>
            </a:r>
          </a:p>
        </p:txBody>
      </p:sp>
      <p:sp>
        <p:nvSpPr>
          <p:cNvPr id="71" name="flow-title-06">
            <a:extLst xmlns:a="http://schemas.openxmlformats.org/drawingml/2006/main">
              <a:ext uri="{FF2B5EF4-FFF2-40B4-BE49-F238E27FC236}">
                <a16:creationId xmlns:a16="http://schemas.microsoft.com/office/drawing/2014/main" id="{7F3D7CDB-6719-4BA6-A1B6-8C65ADB3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结束面试</a:t>
            </a:r>
          </a:p>
        </p:txBody>
      </p:sp>
      <p:sp>
        <p:nvSpPr>
          <p:cNvPr id="72" name="flow-detail-06">
            <a:extLst xmlns:a="http://schemas.openxmlformats.org/drawingml/2006/main">
              <a:ext uri="{FF2B5EF4-FFF2-40B4-BE49-F238E27FC236}">
                <a16:creationId xmlns:a16="http://schemas.microsoft.com/office/drawing/2014/main" id="{7E4C199C-3546-4765-9DA6-8274EDA8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保存完整记录</a:t>
            </a:r>
          </a:p>
        </p:txBody>
      </p:sp>
      <p:sp>
        <p:nvSpPr>
          <p:cNvPr id="73" name="flow-07">
            <a:extLst xmlns:a="http://schemas.openxmlformats.org/drawingml/2006/main">
              <a:ext uri="{FF2B5EF4-FFF2-40B4-BE49-F238E27FC236}">
                <a16:creationId xmlns:a16="http://schemas.microsoft.com/office/drawing/2014/main" id="{EBBA8C0E-61F1-42BE-9828-AE4D4A7D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5CD85C-4E46-4A19-BE10-E622C14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flow-num-07">
            <a:extLst xmlns:a="http://schemas.openxmlformats.org/drawingml/2006/main">
              <a:ext uri="{FF2B5EF4-FFF2-40B4-BE49-F238E27FC236}">
                <a16:creationId xmlns:a16="http://schemas.microsoft.com/office/drawing/2014/main" id="{4F4553F7-7ADF-42F5-8BC1-1725F25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07</a:t>
            </a:r>
          </a:p>
        </p:txBody>
      </p:sp>
      <p:sp>
        <p:nvSpPr>
          <p:cNvPr id="76" name="flow-title-07">
            <a:extLst xmlns:a="http://schemas.openxmlformats.org/drawingml/2006/main">
              <a:ext uri="{FF2B5EF4-FFF2-40B4-BE49-F238E27FC236}">
                <a16:creationId xmlns:a16="http://schemas.microsoft.com/office/drawing/2014/main" id="{0B7C2345-1A08-4881-87B2-F81A0DF9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生成报告</a:t>
            </a:r>
          </a:p>
        </p:txBody>
      </p:sp>
      <p:sp>
        <p:nvSpPr>
          <p:cNvPr id="77" name="flow-detail-07">
            <a:extLst xmlns:a="http://schemas.openxmlformats.org/drawingml/2006/main">
              <a:ext uri="{FF2B5EF4-FFF2-40B4-BE49-F238E27FC236}">
                <a16:creationId xmlns:a16="http://schemas.microsoft.com/office/drawing/2014/main" id="{1CA2027F-B84F-472C-9C88-5432A25C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输出五维评价</a:t>
            </a:r>
          </a:p>
        </p:txBody>
      </p:sp>
      <p:sp>
        <p:nvSpPr>
          <p:cNvPr id="78" name="flow-08">
            <a:extLst xmlns:a="http://schemas.openxmlformats.org/drawingml/2006/main">
              <a:ext uri="{FF2B5EF4-FFF2-40B4-BE49-F238E27FC236}">
                <a16:creationId xmlns:a16="http://schemas.microsoft.com/office/drawing/2014/main" id="{FDB400E0-399C-4751-83D7-1FF97E4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095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74A562-FADB-4ABA-94FF-F1298701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flow-num-08">
            <a:extLst xmlns:a="http://schemas.openxmlformats.org/drawingml/2006/main">
              <a:ext uri="{FF2B5EF4-FFF2-40B4-BE49-F238E27FC236}">
                <a16:creationId xmlns:a16="http://schemas.microsoft.com/office/drawing/2014/main" id="{7D353DA8-0E5A-4D8C-A147-6BC53D7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</a:defRPr>
            </a:pPr>
            <a:r>
              <a:rPr sz="1050" b="1">
                <a:solidFill>
                  <a:srgbClr val="F4F8FC"/>
                </a:solidFill>
              </a:rPr>
              <a:t>08</a:t>
            </a:r>
          </a:p>
        </p:txBody>
      </p:sp>
      <p:sp>
        <p:nvSpPr>
          <p:cNvPr id="81" name="flow-title-08">
            <a:extLst xmlns:a="http://schemas.openxmlformats.org/drawingml/2006/main">
              <a:ext uri="{FF2B5EF4-FFF2-40B4-BE49-F238E27FC236}">
                <a16:creationId xmlns:a16="http://schemas.microsoft.com/office/drawing/2014/main" id="{CE40D9B1-A444-4F3A-8CAC-8F4BA0D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回看改进</a:t>
            </a:r>
          </a:p>
        </p:txBody>
      </p:sp>
      <p:sp>
        <p:nvSpPr>
          <p:cNvPr id="82" name="flow-detail-08">
            <a:extLst xmlns:a="http://schemas.openxmlformats.org/drawingml/2006/main">
              <a:ext uri="{FF2B5EF4-FFF2-40B4-BE49-F238E27FC236}">
                <a16:creationId xmlns:a16="http://schemas.microsoft.com/office/drawing/2014/main" id="{E26CD983-14E2-47D5-A7A4-FC86794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形成训练闭环</a:t>
            </a:r>
          </a:p>
        </p:txBody>
      </p:sp>
      <p:sp>
        <p:nvSpPr>
          <p:cNvPr id="83" name="flow-takeaway">
            <a:extLst xmlns:a="http://schemas.openxmlformats.org/drawingml/2006/main">
              <a:ext uri="{FF2B5EF4-FFF2-40B4-BE49-F238E27FC236}">
                <a16:creationId xmlns:a16="http://schemas.microsoft.com/office/drawing/2014/main" id="{B3A3CED9-A5CA-4C26-BCCE-EAAC420E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84" name="flow-takeaway-text">
            <a:extLst xmlns:a="http://schemas.openxmlformats.org/drawingml/2006/main">
              <a:ext uri="{FF2B5EF4-FFF2-40B4-BE49-F238E27FC236}">
                <a16:creationId xmlns:a16="http://schemas.microsoft.com/office/drawing/2014/main" id="{F91503E9-D28A-4858-84E7-A7E7B1FC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721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EF4FA"/>
                </a:solidFill>
              </a:defRPr>
            </a:pPr>
            <a:r>
              <a:rPr sz="1500" b="1">
                <a:solidFill>
                  <a:srgbClr val="EEF4FA"/>
                </a:solidFill>
              </a:rPr>
              <a:t>当前重点已由“功能跑通”转向“交互质量、智能效果与运行稳定性”。</a:t>
            </a:r>
          </a:p>
        </p:txBody>
      </p:sp>
    </p:spTree>
    <p:extLst>
      <p:ext uri="{BB962C8B-B14F-4D97-AF65-F5344CB8AC3E}">
        <p14:creationId xmlns:p14="http://schemas.microsoft.com/office/powerpoint/2010/main" val="1235331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04F101-E9B3-4A8F-A8BB-AF64845F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FD1A9-0FFC-4EFB-85EB-657E2ABC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A8EE4-CC60-4F32-843C-B8928D9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D226A-E1DD-478C-9BC8-471AFB8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73D71-18BC-482F-9531-10E8A46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823D0-D06E-4B5F-BA65-A94723E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27FA2-84AB-464C-B331-A7897728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AEA0-2711-4991-BE1D-B8911A9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E5469-8537-4FAD-8B83-09C40DD4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FA118-7E26-4055-9DFC-177D1AB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A5425-AE0E-4778-BC96-6EC62CA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A9DB9-D6B2-4907-86DA-391AADC2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E0EB4-C5E3-4C7C-B04D-8D45086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F41A0-8C94-4D69-AA40-FE5B3C43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11276-873A-433A-B649-7F214127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23429-EB8B-4779-9B3C-3318BD46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46356-C46C-4891-9AB3-DB77863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91535-3B98-40CF-B18A-3C1028D2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3891B-C80D-414E-AE61-55067E40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3BB85-2E63-438E-B3E8-C3A36EF1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C3A57-A0F2-4F5A-8D89-DCA0599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BB6EA-09D0-4470-BC3F-ECBE6DA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7DCE4-CD33-4440-ABB9-C3801B0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105B7-C8E8-4D04-B1F6-211BDC4A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D35E8-A78B-441E-891A-D1D2B3F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EBC13-0D5F-4C46-A4B2-942318D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ECED9-C3DC-44D5-A9AD-7706F03A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90082-4EF0-4F28-B493-D6E1F8A2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A3A51-1A86-48D9-A942-24A55F7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840412-3BFD-49AB-BEC8-C4DF2873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05138-AD38-4196-BDAE-673897C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FE7FF-11D3-47B5-AA71-FDC3574A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3C5AE-FC00-455C-A400-D9F7B97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3FA49-EFEE-4ED1-8938-26CAFC4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8B0DE-C61B-450A-9950-740E414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779E61-70D5-4B2B-B1F1-CF18CCD4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6">
            <a:extLst xmlns:a="http://schemas.openxmlformats.org/drawingml/2006/main">
              <a:ext uri="{FF2B5EF4-FFF2-40B4-BE49-F238E27FC236}">
                <a16:creationId xmlns:a16="http://schemas.microsoft.com/office/drawing/2014/main" id="{87975D10-DA9A-4749-8E34-A3E60125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06</a:t>
            </a:r>
          </a:p>
        </p:txBody>
      </p:sp>
      <p:sp>
        <p:nvSpPr>
          <p:cNvPr id="38" name="slide6-eyebrow">
            <a:extLst xmlns:a="http://schemas.openxmlformats.org/drawingml/2006/main">
              <a:ext uri="{FF2B5EF4-FFF2-40B4-BE49-F238E27FC236}">
                <a16:creationId xmlns:a16="http://schemas.microsoft.com/office/drawing/2014/main" id="{67BF0339-05E6-411C-8624-B12B93CA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06 / IMPLEMENTATION STATUS</a:t>
            </a:r>
          </a:p>
        </p:txBody>
      </p:sp>
      <p:sp>
        <p:nvSpPr>
          <p:cNvPr id="39" name="slide6-title">
            <a:extLst xmlns:a="http://schemas.openxmlformats.org/drawingml/2006/main">
              <a:ext uri="{FF2B5EF4-FFF2-40B4-BE49-F238E27FC236}">
                <a16:creationId xmlns:a16="http://schemas.microsoft.com/office/drawing/2014/main" id="{5164082F-FEC5-4421-BA92-261C72B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核心功能已进入可联调、可演示状态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D314CB-FE80-499B-98D4-E7C9A7F3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1F94536A-A7B7-48A8-9920-089A0A2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3143250" cy="45148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42" name="status-big">
            <a:extLst xmlns:a="http://schemas.openxmlformats.org/drawingml/2006/main">
              <a:ext uri="{FF2B5EF4-FFF2-40B4-BE49-F238E27FC236}">
                <a16:creationId xmlns:a16="http://schemas.microsoft.com/office/drawing/2014/main" id="{64709D2C-9DA1-408D-89BB-A154754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23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42C7B9"/>
                </a:solidFill>
              </a:defRPr>
            </a:pPr>
            <a:r>
              <a:rPr sz="6150" b="1">
                <a:solidFill>
                  <a:srgbClr val="42C7B9"/>
                </a:solidFill>
              </a:rPr>
              <a:t>4</a:t>
            </a:r>
          </a:p>
        </p:txBody>
      </p:sp>
      <p:sp>
        <p:nvSpPr>
          <p:cNvPr id="43" name="status-big-label">
            <a:extLst xmlns:a="http://schemas.openxmlformats.org/drawingml/2006/main">
              <a:ext uri="{FF2B5EF4-FFF2-40B4-BE49-F238E27FC236}">
                <a16:creationId xmlns:a16="http://schemas.microsoft.com/office/drawing/2014/main" id="{FAC50308-D1ED-4873-8F16-F2D809E8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EF4FA"/>
                </a:solidFill>
              </a:defRPr>
            </a:pPr>
            <a:r>
              <a:rPr sz="1875" b="1">
                <a:solidFill>
                  <a:srgbClr val="EEF4FA"/>
                </a:solidFill>
              </a:rPr>
              <a:t>类核心成果</a:t>
            </a:r>
          </a:p>
        </p:txBody>
      </p:sp>
      <p:sp>
        <p:nvSpPr>
          <p:cNvPr id="44" name="status-summary-copy">
            <a:extLst xmlns:a="http://schemas.openxmlformats.org/drawingml/2006/main">
              <a:ext uri="{FF2B5EF4-FFF2-40B4-BE49-F238E27FC236}">
                <a16:creationId xmlns:a16="http://schemas.microsoft.com/office/drawing/2014/main" id="{34098D72-A6D2-42BE-8DDC-1718DE8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C8D8E8"/>
                </a:solidFill>
              </a:defRPr>
            </a:pPr>
            <a:r>
              <a:rPr sz="1350">
                <a:solidFill>
                  <a:srgbClr val="C8D8E8"/>
                </a:solidFill>
              </a:rPr>
              <a:t>系统主体已从页面原型进入前后端联调阶段。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C8D8E8"/>
                </a:solidFill>
              </a:defRPr>
            </a:pPr>
            <a:r>
              <a:rPr sz="1350">
                <a:solidFill>
                  <a:srgbClr val="C8D8E8"/>
                </a:solidFill>
              </a:rPr>
              <a:t>汇报时由 PPT 说明完成度，再切换网页演示真实交互。</a:t>
            </a:r>
          </a:p>
        </p:txBody>
      </p:sp>
      <p:sp>
        <p:nvSpPr>
          <p:cNvPr id="45" name="status-web-label">
            <a:extLst xmlns:a="http://schemas.openxmlformats.org/drawingml/2006/main">
              <a:ext uri="{FF2B5EF4-FFF2-40B4-BE49-F238E27FC236}">
                <a16:creationId xmlns:a16="http://schemas.microsoft.com/office/drawing/2014/main" id="{E752FB0A-7BF8-48B1-9BE4-FAF810BC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A65A"/>
                </a:solidFill>
              </a:defRPr>
            </a:pPr>
            <a:r>
              <a:rPr sz="1275" b="1">
                <a:solidFill>
                  <a:srgbClr val="F2A65A"/>
                </a:solidFill>
              </a:rPr>
              <a:t>PPT 讲逻辑  ×  网页讲体验</a:t>
            </a:r>
          </a:p>
        </p:txBody>
      </p:sp>
      <p:sp>
        <p:nvSpPr>
          <p:cNvPr id="46" name="outcome-0">
            <a:extLst xmlns:a="http://schemas.openxmlformats.org/drawingml/2006/main">
              <a:ext uri="{FF2B5EF4-FFF2-40B4-BE49-F238E27FC236}">
                <a16:creationId xmlns:a16="http://schemas.microsoft.com/office/drawing/2014/main" id="{79F2B81A-3163-4B04-A24E-D89AECC3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71625"/>
            <a:ext cx="723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B1DD5A-769F-443B-826B-FA74A6B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71625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3304F107-C668-4599-91E9-702816E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621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977E8"/>
                </a:solidFill>
              </a:defRPr>
            </a:pPr>
            <a:r>
              <a:rPr sz="1500" b="1">
                <a:solidFill>
                  <a:srgbClr val="3977E8"/>
                </a:solidFill>
              </a:rPr>
              <a:t>01</a:t>
            </a:r>
          </a:p>
        </p:txBody>
      </p:sp>
      <p:sp>
        <p:nvSpPr>
          <p:cNvPr id="49" name="outcome-title-0">
            <a:extLst xmlns:a="http://schemas.openxmlformats.org/drawingml/2006/main">
              <a:ext uri="{FF2B5EF4-FFF2-40B4-BE49-F238E27FC236}">
                <a16:creationId xmlns:a16="http://schemas.microsoft.com/office/drawing/2014/main" id="{D6F832C2-79D5-480D-9746-CC3E7B06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学生端主要页面</a:t>
            </a:r>
          </a:p>
        </p:txBody>
      </p:sp>
      <p:sp>
        <p:nvSpPr>
          <p:cNvPr id="50" name="outcome-detail-0">
            <a:extLst xmlns:a="http://schemas.openxmlformats.org/drawingml/2006/main">
              <a:ext uri="{FF2B5EF4-FFF2-40B4-BE49-F238E27FC236}">
                <a16:creationId xmlns:a16="http://schemas.microsoft.com/office/drawing/2014/main" id="{79F4EEAC-0F2E-480E-A639-465A43C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登录、岗位、简历、面试、历史记录与报告</a:t>
            </a:r>
          </a:p>
        </p:txBody>
      </p:sp>
      <p:sp>
        <p:nvSpPr>
          <p:cNvPr id="51" name="outcome-1">
            <a:extLst xmlns:a="http://schemas.openxmlformats.org/drawingml/2006/main">
              <a:ext uri="{FF2B5EF4-FFF2-40B4-BE49-F238E27FC236}">
                <a16:creationId xmlns:a16="http://schemas.microsoft.com/office/drawing/2014/main" id="{681D51D9-39E3-42D4-8B2E-6E1A0177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723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3A4FDE-1A8A-4363-8410-951D399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73EB8FB9-866D-4530-A9BD-6A005F7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860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C7B9"/>
                </a:solidFill>
              </a:defRPr>
            </a:pPr>
            <a:r>
              <a:rPr sz="1500" b="1">
                <a:solidFill>
                  <a:srgbClr val="42C7B9"/>
                </a:solidFill>
              </a:rPr>
              <a:t>02</a:t>
            </a:r>
          </a:p>
        </p:txBody>
      </p:sp>
      <p:sp>
        <p:nvSpPr>
          <p:cNvPr id="54" name="outcome-title-1">
            <a:extLst xmlns:a="http://schemas.openxmlformats.org/drawingml/2006/main">
              <a:ext uri="{FF2B5EF4-FFF2-40B4-BE49-F238E27FC236}">
                <a16:creationId xmlns:a16="http://schemas.microsoft.com/office/drawing/2014/main" id="{EC1033D7-009E-4C71-BDDA-277A34E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47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模拟面试闭环</a:t>
            </a:r>
          </a:p>
        </p:txBody>
      </p:sp>
      <p:sp>
        <p:nvSpPr>
          <p:cNvPr id="55" name="outcome-detail-1">
            <a:extLst xmlns:a="http://schemas.openxmlformats.org/drawingml/2006/main">
              <a:ext uri="{FF2B5EF4-FFF2-40B4-BE49-F238E27FC236}">
                <a16:creationId xmlns:a16="http://schemas.microsoft.com/office/drawing/2014/main" id="{C421D979-F502-4CB9-89EE-4CD9F267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开始、作答、追问、下一题与结束流程</a:t>
            </a:r>
          </a:p>
        </p:txBody>
      </p:sp>
      <p:sp>
        <p:nvSpPr>
          <p:cNvPr id="56" name="outcome-2">
            <a:extLst xmlns:a="http://schemas.openxmlformats.org/drawingml/2006/main">
              <a:ext uri="{FF2B5EF4-FFF2-40B4-BE49-F238E27FC236}">
                <a16:creationId xmlns:a16="http://schemas.microsoft.com/office/drawing/2014/main" id="{5CEB7FA1-259F-40B7-AE22-50CDDB78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9525"/>
            <a:ext cx="723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9317AA-D593-47B2-8C31-C54CAC14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9525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0E7914E5-109D-482F-BF66-5D89C88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00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977E8"/>
                </a:solidFill>
              </a:defRPr>
            </a:pPr>
            <a:r>
              <a:rPr sz="1500" b="1">
                <a:solidFill>
                  <a:srgbClr val="3977E8"/>
                </a:solidFill>
              </a:rPr>
              <a:t>03</a:t>
            </a:r>
          </a:p>
        </p:txBody>
      </p:sp>
      <p:sp>
        <p:nvSpPr>
          <p:cNvPr id="59" name="outcome-title-2">
            <a:extLst xmlns:a="http://schemas.openxmlformats.org/drawingml/2006/main">
              <a:ext uri="{FF2B5EF4-FFF2-40B4-BE49-F238E27FC236}">
                <a16:creationId xmlns:a16="http://schemas.microsoft.com/office/drawing/2014/main" id="{A516866E-8376-441F-BD7E-A085A365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五维能力报告</a:t>
            </a:r>
          </a:p>
        </p:txBody>
      </p:sp>
      <p:sp>
        <p:nvSpPr>
          <p:cNvPr id="60" name="outcome-detail-2">
            <a:extLst xmlns:a="http://schemas.openxmlformats.org/drawingml/2006/main">
              <a:ext uri="{FF2B5EF4-FFF2-40B4-BE49-F238E27FC236}">
                <a16:creationId xmlns:a16="http://schemas.microsoft.com/office/drawing/2014/main" id="{EEF74381-29F8-4C6A-816F-50686EDC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总分、雷达维度、优势、不足与建议</a:t>
            </a:r>
          </a:p>
        </p:txBody>
      </p:sp>
      <p:sp>
        <p:nvSpPr>
          <p:cNvPr id="61" name="outcome-3">
            <a:extLst xmlns:a="http://schemas.openxmlformats.org/drawingml/2006/main">
              <a:ext uri="{FF2B5EF4-FFF2-40B4-BE49-F238E27FC236}">
                <a16:creationId xmlns:a16="http://schemas.microsoft.com/office/drawing/2014/main" id="{1AB59F5E-3731-4F06-BA99-DE0C7EF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43475"/>
            <a:ext cx="723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7B54D8-6AC8-4827-AF52-C7A95645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43475"/>
            <a:ext cx="85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0ED5E24F-6E9A-4510-9ECE-981CFD1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339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A65A"/>
                </a:solidFill>
              </a:defRPr>
            </a:pPr>
            <a:r>
              <a:rPr sz="1500" b="1">
                <a:solidFill>
                  <a:srgbClr val="F2A65A"/>
                </a:solidFill>
              </a:rPr>
              <a:t>04</a:t>
            </a:r>
          </a:p>
        </p:txBody>
      </p:sp>
      <p:sp>
        <p:nvSpPr>
          <p:cNvPr id="64" name="outcome-title-3">
            <a:extLst xmlns:a="http://schemas.openxmlformats.org/drawingml/2006/main">
              <a:ext uri="{FF2B5EF4-FFF2-40B4-BE49-F238E27FC236}">
                <a16:creationId xmlns:a16="http://schemas.microsoft.com/office/drawing/2014/main" id="{CF4B75FE-3CDC-4455-B4C5-3FF84DC6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95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33B"/>
                </a:solidFill>
              </a:defRPr>
            </a:pPr>
            <a:r>
              <a:rPr sz="1725" b="1">
                <a:solidFill>
                  <a:srgbClr val="16233B"/>
                </a:solidFill>
              </a:rPr>
              <a:t>教师端基础框架</a:t>
            </a:r>
          </a:p>
        </p:txBody>
      </p:sp>
      <p:sp>
        <p:nvSpPr>
          <p:cNvPr id="65" name="outcome-detail-3">
            <a:extLst xmlns:a="http://schemas.openxmlformats.org/drawingml/2006/main">
              <a:ext uri="{FF2B5EF4-FFF2-40B4-BE49-F238E27FC236}">
                <a16:creationId xmlns:a16="http://schemas.microsoft.com/office/drawing/2014/main" id="{87FD638D-F44D-4486-884A-69F9F472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864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概览、班级、学生、报告与任务管理</a:t>
            </a:r>
          </a:p>
        </p:txBody>
      </p:sp>
    </p:spTree>
    <p:extLst>
      <p:ext uri="{BB962C8B-B14F-4D97-AF65-F5344CB8AC3E}">
        <p14:creationId xmlns:p14="http://schemas.microsoft.com/office/powerpoint/2010/main" val="783267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C783D18-4A40-462E-9ABC-B4D269B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E72AC-D648-49D9-8900-03EE3E0C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22DBA-1420-4654-B5BD-823BBDE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7B823-0FCA-4B9A-A5F2-31687818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23DBE-9CA2-422F-91DD-55925A2B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6453B-1FCB-486E-9D8D-DB878558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5FC4D-8CB1-450C-A2FB-4E1E924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1CF76-6902-4AA5-AFB4-AEDDE0E7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F021F-BADD-4486-9758-8A99242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9B14-7A37-46BF-9384-D21A7B0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B2BE0-11CD-462E-A850-E835B16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17256-02C7-42B0-8AA1-213A2A1B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40BE7-C663-4771-A0F3-2C949CF0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32C1C-9B6D-4456-B56E-86FE79A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058F1-62BE-4F68-B07A-B6C435D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4A6A6-6B8E-42CE-B346-54EAD84F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B3EB3-A702-402C-870E-8ED3200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071DA-DE0E-479E-8A55-11404F26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723FF-9C10-4E0B-A741-83A182DB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7D0EC-544A-4F89-922E-7472C22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9852C-ADD6-4ED9-B747-A70FAB38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D6488-1539-4FEF-9F43-99DC9D9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9A72C-9B8C-4DA8-BE5C-03FE499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E4B97-47CA-4268-845C-78EC557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B40F4-4FF5-463E-8C94-BCCF89FB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02A8C-3833-4C09-98CD-2529854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583AB-B3D2-441B-B27A-091E0173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544B3-B358-4D91-B30D-53F8617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D5E7A-B5ED-413A-8D43-1277604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94F72-F8B2-4C5F-83CB-92B82EF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71CE3-9CBD-4737-B258-FDFFE2C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636FC-1BBF-43A2-AEA4-4100E24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CD839-FCD2-4602-B9D1-F65CB2F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1320FC-2AD5-47C8-8DAA-F057D61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123BBD-F907-4ADB-8894-0C0DF37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496FB-FA38-4401-A6AE-9232998E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7">
            <a:extLst xmlns:a="http://schemas.openxmlformats.org/drawingml/2006/main">
              <a:ext uri="{FF2B5EF4-FFF2-40B4-BE49-F238E27FC236}">
                <a16:creationId xmlns:a16="http://schemas.microsoft.com/office/drawing/2014/main" id="{696D81A6-66DB-4C01-A7DD-2761B9A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07</a:t>
            </a:r>
          </a:p>
        </p:txBody>
      </p:sp>
      <p:sp>
        <p:nvSpPr>
          <p:cNvPr id="38" name="slide7-eyebrow">
            <a:extLst xmlns:a="http://schemas.openxmlformats.org/drawingml/2006/main">
              <a:ext uri="{FF2B5EF4-FFF2-40B4-BE49-F238E27FC236}">
                <a16:creationId xmlns:a16="http://schemas.microsoft.com/office/drawing/2014/main" id="{02E0B216-1F7E-4B8C-8678-D5A05C1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07 / INTERVIEW LOGIC</a:t>
            </a:r>
          </a:p>
        </p:txBody>
      </p:sp>
      <p:sp>
        <p:nvSpPr>
          <p:cNvPr id="39" name="slide7-title">
            <a:extLst xmlns:a="http://schemas.openxmlformats.org/drawingml/2006/main">
              <a:ext uri="{FF2B5EF4-FFF2-40B4-BE49-F238E27FC236}">
                <a16:creationId xmlns:a16="http://schemas.microsoft.com/office/drawing/2014/main" id="{D1830E6A-CFD0-441A-8AC7-854B0C6D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系统已建立“提问—追问—评价”的基础逻辑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481340-84E8-497C-9C65-2B452CE5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nversation-zone">
            <a:extLst xmlns:a="http://schemas.openxmlformats.org/drawingml/2006/main">
              <a:ext uri="{FF2B5EF4-FFF2-40B4-BE49-F238E27FC236}">
                <a16:creationId xmlns:a16="http://schemas.microsoft.com/office/drawing/2014/main" id="{0C56E2AC-1F24-4297-884A-2C8B10B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1435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2" name="conversation-heading">
            <a:extLst xmlns:a="http://schemas.openxmlformats.org/drawingml/2006/main">
              <a:ext uri="{FF2B5EF4-FFF2-40B4-BE49-F238E27FC236}">
                <a16:creationId xmlns:a16="http://schemas.microsoft.com/office/drawing/2014/main" id="{56C6DF33-37B8-4D54-AF02-44A0D65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811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B"/>
                </a:solidFill>
              </a:defRPr>
            </a:pPr>
            <a:r>
              <a:rPr sz="1800" b="1">
                <a:solidFill>
                  <a:srgbClr val="16233B"/>
                </a:solidFill>
              </a:rPr>
              <a:t>对话链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078CF-4EE5-4293-B2A7-FEDAED31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F61AE3-4BBB-429B-AAF0-72F97AA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nvo-title-0">
            <a:extLst xmlns:a="http://schemas.openxmlformats.org/drawingml/2006/main">
              <a:ext uri="{FF2B5EF4-FFF2-40B4-BE49-F238E27FC236}">
                <a16:creationId xmlns:a16="http://schemas.microsoft.com/office/drawing/2014/main" id="{74DFE22F-B5E0-4863-8E50-60C0184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B"/>
                </a:solidFill>
              </a:defRPr>
            </a:pPr>
            <a:r>
              <a:rPr sz="1650" b="1">
                <a:solidFill>
                  <a:srgbClr val="16233B"/>
                </a:solidFill>
              </a:rPr>
              <a:t>问题生成</a:t>
            </a:r>
          </a:p>
        </p:txBody>
      </p:sp>
      <p:sp>
        <p:nvSpPr>
          <p:cNvPr id="46" name="convo-copy-0">
            <a:extLst xmlns:a="http://schemas.openxmlformats.org/drawingml/2006/main">
              <a:ext uri="{FF2B5EF4-FFF2-40B4-BE49-F238E27FC236}">
                <a16:creationId xmlns:a16="http://schemas.microsoft.com/office/drawing/2014/main" id="{4084C35A-8314-4B95-B330-451146DD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依据岗位与简历选择问题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C1CEE7-70B0-402F-A282-B883A720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A4E208-6B1B-4CCB-84B2-81DCEC79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nvo-title-1">
            <a:extLst xmlns:a="http://schemas.openxmlformats.org/drawingml/2006/main">
              <a:ext uri="{FF2B5EF4-FFF2-40B4-BE49-F238E27FC236}">
                <a16:creationId xmlns:a16="http://schemas.microsoft.com/office/drawing/2014/main" id="{0693BC5F-8532-40C5-A0C4-C593E70D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B"/>
                </a:solidFill>
              </a:defRPr>
            </a:pPr>
            <a:r>
              <a:rPr sz="1650" b="1">
                <a:solidFill>
                  <a:srgbClr val="16233B"/>
                </a:solidFill>
              </a:rPr>
              <a:t>用户作答</a:t>
            </a:r>
          </a:p>
        </p:txBody>
      </p:sp>
      <p:sp>
        <p:nvSpPr>
          <p:cNvPr id="50" name="convo-copy-1">
            <a:extLst xmlns:a="http://schemas.openxmlformats.org/drawingml/2006/main">
              <a:ext uri="{FF2B5EF4-FFF2-40B4-BE49-F238E27FC236}">
                <a16:creationId xmlns:a16="http://schemas.microsoft.com/office/drawing/2014/main" id="{82EFF62C-7012-497F-A57C-7DF716B0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语音转写并保存上下文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456F44-AF25-448D-AD80-E0600222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A21C35-A633-4B1D-9DF6-04B6C950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nvo-title-2">
            <a:extLst xmlns:a="http://schemas.openxmlformats.org/drawingml/2006/main">
              <a:ext uri="{FF2B5EF4-FFF2-40B4-BE49-F238E27FC236}">
                <a16:creationId xmlns:a16="http://schemas.microsoft.com/office/drawing/2014/main" id="{345FBCD2-5398-49AE-8EED-00F77D0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B"/>
                </a:solidFill>
              </a:defRPr>
            </a:pPr>
            <a:r>
              <a:rPr sz="1650" b="1">
                <a:solidFill>
                  <a:srgbClr val="16233B"/>
                </a:solidFill>
              </a:rPr>
              <a:t>动态追问</a:t>
            </a:r>
          </a:p>
        </p:txBody>
      </p:sp>
      <p:sp>
        <p:nvSpPr>
          <p:cNvPr id="54" name="convo-copy-2">
            <a:extLst xmlns:a="http://schemas.openxmlformats.org/drawingml/2006/main">
              <a:ext uri="{FF2B5EF4-FFF2-40B4-BE49-F238E27FC236}">
                <a16:creationId xmlns:a16="http://schemas.microsoft.com/office/drawing/2014/main" id="{D7139CEE-DFF0-4B9A-BF6B-8C12B59D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围绕信息缺口继续深入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F9964F-720D-4E6A-B69F-45EF71E6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nvo-title-3">
            <a:extLst xmlns:a="http://schemas.openxmlformats.org/drawingml/2006/main">
              <a:ext uri="{FF2B5EF4-FFF2-40B4-BE49-F238E27FC236}">
                <a16:creationId xmlns:a16="http://schemas.microsoft.com/office/drawing/2014/main" id="{246967CE-EC45-444C-845B-5DEE13DA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33B"/>
                </a:solidFill>
              </a:defRPr>
            </a:pPr>
            <a:r>
              <a:rPr sz="1650" b="1">
                <a:solidFill>
                  <a:srgbClr val="16233B"/>
                </a:solidFill>
              </a:rPr>
              <a:t>完成评价</a:t>
            </a:r>
          </a:p>
        </p:txBody>
      </p:sp>
      <p:sp>
        <p:nvSpPr>
          <p:cNvPr id="57" name="convo-copy-3">
            <a:extLst xmlns:a="http://schemas.openxmlformats.org/drawingml/2006/main">
              <a:ext uri="{FF2B5EF4-FFF2-40B4-BE49-F238E27FC236}">
                <a16:creationId xmlns:a16="http://schemas.microsoft.com/office/drawing/2014/main" id="{838A4B82-8A83-4110-8786-B648A1B1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B"/>
                </a:solidFill>
              </a:defRPr>
            </a:pPr>
            <a:r>
              <a:rPr sz="1275">
                <a:solidFill>
                  <a:srgbClr val="52657B"/>
                </a:solidFill>
              </a:rPr>
              <a:t>汇总表现并生成报告</a:t>
            </a:r>
          </a:p>
        </p:txBody>
      </p:sp>
      <p:sp>
        <p:nvSpPr>
          <p:cNvPr id="58" name="score-zone">
            <a:extLst xmlns:a="http://schemas.openxmlformats.org/drawingml/2006/main">
              <a:ext uri="{FF2B5EF4-FFF2-40B4-BE49-F238E27FC236}">
                <a16:creationId xmlns:a16="http://schemas.microsoft.com/office/drawing/2014/main" id="{BC6B6EA9-A635-492F-9DB1-0115F4FB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2768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9" name="score-heading">
            <a:extLst xmlns:a="http://schemas.openxmlformats.org/drawingml/2006/main">
              <a:ext uri="{FF2B5EF4-FFF2-40B4-BE49-F238E27FC236}">
                <a16:creationId xmlns:a16="http://schemas.microsoft.com/office/drawing/2014/main" id="{B575EEFD-2FD1-471C-BD34-16AC4E2C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811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233B"/>
                </a:solidFill>
              </a:defRPr>
            </a:pPr>
            <a:r>
              <a:rPr sz="1800" b="1">
                <a:solidFill>
                  <a:srgbClr val="16233B"/>
                </a:solidFill>
              </a:rPr>
              <a:t>五维评价权重</a:t>
            </a:r>
          </a:p>
        </p:txBody>
      </p:sp>
      <p:sp>
        <p:nvSpPr>
          <p:cNvPr id="60" name="score-name-0">
            <a:extLst xmlns:a="http://schemas.openxmlformats.org/drawingml/2006/main">
              <a:ext uri="{FF2B5EF4-FFF2-40B4-BE49-F238E27FC236}">
                <a16:creationId xmlns:a16="http://schemas.microsoft.com/office/drawing/2014/main" id="{85F38B9B-AD67-46F8-B551-E0C51AE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专业知识掌握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91F452-D3C8-4278-A695-8295971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FF0C7F-F48F-4ABB-B0EB-EDFE5236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core-value-0">
            <a:extLst xmlns:a="http://schemas.openxmlformats.org/drawingml/2006/main">
              <a:ext uri="{FF2B5EF4-FFF2-40B4-BE49-F238E27FC236}">
                <a16:creationId xmlns:a16="http://schemas.microsoft.com/office/drawing/2014/main" id="{A5708A7E-0EE9-440C-9D7E-6820CA11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62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30%</a:t>
            </a:r>
          </a:p>
        </p:txBody>
      </p:sp>
      <p:sp>
        <p:nvSpPr>
          <p:cNvPr id="64" name="score-name-1">
            <a:extLst xmlns:a="http://schemas.openxmlformats.org/drawingml/2006/main">
              <a:ext uri="{FF2B5EF4-FFF2-40B4-BE49-F238E27FC236}">
                <a16:creationId xmlns:a16="http://schemas.microsoft.com/office/drawing/2014/main" id="{F4389BE7-BD2E-4E01-BA2E-DF925BA7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项目实践表达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A52707-33DF-470A-99DB-966BCE3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11DD0B-ACB0-43B1-92F7-52A985B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1968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core-value-1">
            <a:extLst xmlns:a="http://schemas.openxmlformats.org/drawingml/2006/main">
              <a:ext uri="{FF2B5EF4-FFF2-40B4-BE49-F238E27FC236}">
                <a16:creationId xmlns:a16="http://schemas.microsoft.com/office/drawing/2014/main" id="{1CE36F23-96A8-4694-A494-8C58A375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09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C7B9"/>
                </a:solidFill>
              </a:defRPr>
            </a:pPr>
            <a:r>
              <a:rPr sz="1275" b="1">
                <a:solidFill>
                  <a:srgbClr val="42C7B9"/>
                </a:solidFill>
              </a:rPr>
              <a:t>25%</a:t>
            </a:r>
          </a:p>
        </p:txBody>
      </p:sp>
      <p:sp>
        <p:nvSpPr>
          <p:cNvPr id="68" name="score-name-2">
            <a:extLst xmlns:a="http://schemas.openxmlformats.org/drawingml/2006/main">
              <a:ext uri="{FF2B5EF4-FFF2-40B4-BE49-F238E27FC236}">
                <a16:creationId xmlns:a16="http://schemas.microsoft.com/office/drawing/2014/main" id="{0BCE41CA-457E-4DDE-9CD5-9894AC22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逻辑表达能力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68B0C8-AFCD-4CB6-8446-564568A0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C51E4C-D568-4D23-80C9-31F1A586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1574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core-value-2">
            <a:extLst xmlns:a="http://schemas.openxmlformats.org/drawingml/2006/main">
              <a:ext uri="{FF2B5EF4-FFF2-40B4-BE49-F238E27FC236}">
                <a16:creationId xmlns:a16="http://schemas.microsoft.com/office/drawing/2014/main" id="{3345AF12-E256-43C0-8FE2-4A8027E6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57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20%</a:t>
            </a:r>
          </a:p>
        </p:txBody>
      </p:sp>
      <p:sp>
        <p:nvSpPr>
          <p:cNvPr id="72" name="score-name-3">
            <a:extLst xmlns:a="http://schemas.openxmlformats.org/drawingml/2006/main">
              <a:ext uri="{FF2B5EF4-FFF2-40B4-BE49-F238E27FC236}">
                <a16:creationId xmlns:a16="http://schemas.microsoft.com/office/drawing/2014/main" id="{C15BA5CD-AB77-413B-A2F8-A1B4AFDD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岗位匹配程度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F61692-9E39-4DF7-BB13-F172060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529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8668D3-5BF0-42B5-81D4-1DEEEA9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52925"/>
            <a:ext cx="1181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core-value-3">
            <a:extLst xmlns:a="http://schemas.openxmlformats.org/drawingml/2006/main">
              <a:ext uri="{FF2B5EF4-FFF2-40B4-BE49-F238E27FC236}">
                <a16:creationId xmlns:a16="http://schemas.microsoft.com/office/drawing/2014/main" id="{4262CE3C-06D0-4AFB-BD08-9CE2A99C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05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C7B9"/>
                </a:solidFill>
              </a:defRPr>
            </a:pPr>
            <a:r>
              <a:rPr sz="1275" b="1">
                <a:solidFill>
                  <a:srgbClr val="42C7B9"/>
                </a:solidFill>
              </a:rPr>
              <a:t>15%</a:t>
            </a:r>
          </a:p>
        </p:txBody>
      </p:sp>
      <p:sp>
        <p:nvSpPr>
          <p:cNvPr id="76" name="score-name-4">
            <a:extLst xmlns:a="http://schemas.openxmlformats.org/drawingml/2006/main">
              <a:ext uri="{FF2B5EF4-FFF2-40B4-BE49-F238E27FC236}">
                <a16:creationId xmlns:a16="http://schemas.microsoft.com/office/drawing/2014/main" id="{A0F86D4C-93FA-4763-B0A9-C59C8408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动态追问应对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27BB21-8C76-472F-B714-20A354A3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00625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80EDC7-60CE-46D5-8CA3-439A934D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00625"/>
            <a:ext cx="787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core-value-4">
            <a:extLst xmlns:a="http://schemas.openxmlformats.org/drawingml/2006/main">
              <a:ext uri="{FF2B5EF4-FFF2-40B4-BE49-F238E27FC236}">
                <a16:creationId xmlns:a16="http://schemas.microsoft.com/office/drawing/2014/main" id="{337A115D-B73C-4A3E-B721-D86C3BF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953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2A65A"/>
                </a:solidFill>
              </a:defRPr>
            </a:pPr>
            <a:r>
              <a:rPr sz="1275" b="1">
                <a:solidFill>
                  <a:srgbClr val="F2A65A"/>
                </a:solidFill>
              </a:rPr>
              <a:t>10%</a:t>
            </a:r>
          </a:p>
        </p:txBody>
      </p:sp>
      <p:sp>
        <p:nvSpPr>
          <p:cNvPr id="80" name="score-note">
            <a:extLst xmlns:a="http://schemas.openxmlformats.org/drawingml/2006/main">
              <a:ext uri="{FF2B5EF4-FFF2-40B4-BE49-F238E27FC236}">
                <a16:creationId xmlns:a16="http://schemas.microsoft.com/office/drawing/2014/main" id="{E7A0891D-08FC-45E3-A328-F47300F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222"/>
                </a:solidFill>
              </a:defRPr>
            </a:pPr>
            <a:r>
              <a:rPr sz="1275" b="1">
                <a:solidFill>
                  <a:srgbClr val="D98222"/>
                </a:solidFill>
              </a:rPr>
              <a:t>当前为规则化评价版本；下一阶段重点验证 AI 评价的一致性与解释性。</a:t>
            </a:r>
          </a:p>
        </p:txBody>
      </p:sp>
    </p:spTree>
    <p:extLst>
      <p:ext uri="{BB962C8B-B14F-4D97-AF65-F5344CB8AC3E}">
        <p14:creationId xmlns:p14="http://schemas.microsoft.com/office/powerpoint/2010/main" val="588666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9F3600-8FC1-48C7-9306-9A4F4870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DB164-3AD7-4BEF-B8B5-74EF8AD3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0FBC0-C514-47D6-B635-1587773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E8FFE-BC44-44F0-9E58-DE79374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39601-454A-4599-9588-EDB32B4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007A1-0F05-4D8A-B8F2-475B59AE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6CF16-0E24-4776-9F3B-DB75B4C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534B-9EDD-4484-BBA3-3F4137F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5DAB-23D2-4C1B-9610-8BD4128A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C57B7-C62A-4698-9A1E-EFCF7AD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AA07-1703-4937-9C82-2EDF34DD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99C1F-94D1-46F0-BCA0-84DC474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D3355-C707-47F2-AD5A-D7617710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60DD5-B6D7-436C-BC50-34D8FF68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F4C8A-90BA-438F-81B5-20EC8A2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E72F0-28EC-4251-9985-F72C5D38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CB0FC-B24E-45B2-9B74-6AF9E3D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C67A6-ACBA-4869-ABF4-8C4C248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B7229-DE1C-4533-9860-E022389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F9D29-AE67-44D3-807F-92C2FB6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E3914-11F1-40F1-8867-1FFE1BC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186AD-B437-4B35-86B2-14B3E23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0B0E8-D2C7-4712-B7E4-00B5C71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42C5D-FE0C-4FE3-B4F1-A130900F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BBE06-9C23-4AFB-B00D-04EE68A3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E1E59-E5FF-46DB-914C-C40E660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530EB-1C5C-43DF-943C-7E5842C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0ACAE2-643D-4FE1-8D4B-7DDEE3F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7313E-A143-4458-A202-487EDD96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986FC-168D-4FEE-9F7A-515D8D2D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35CE1-649E-4911-9963-673B7F03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11516-1B15-4884-B094-277AA6DC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4F47B-56C4-466B-B6A2-3BF3D352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72F5D-F4E5-41A6-A4AE-DE69B2A9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918B5-F9AF-4AF2-8C37-790F620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75C462-8E9E-4674-B31E-8E6362C6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8">
            <a:extLst xmlns:a="http://schemas.openxmlformats.org/drawingml/2006/main">
              <a:ext uri="{FF2B5EF4-FFF2-40B4-BE49-F238E27FC236}">
                <a16:creationId xmlns:a16="http://schemas.microsoft.com/office/drawing/2014/main" id="{6BCC3E49-340C-408B-B11C-8A84C98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08</a:t>
            </a:r>
          </a:p>
        </p:txBody>
      </p:sp>
      <p:sp>
        <p:nvSpPr>
          <p:cNvPr id="38" name="slide8-eyebrow">
            <a:extLst xmlns:a="http://schemas.openxmlformats.org/drawingml/2006/main">
              <a:ext uri="{FF2B5EF4-FFF2-40B4-BE49-F238E27FC236}">
                <a16:creationId xmlns:a16="http://schemas.microsoft.com/office/drawing/2014/main" id="{4636F0C5-CAC2-42FE-ABC5-DBCA35BF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08 / DIGITAL HUMAN</a:t>
            </a:r>
          </a:p>
        </p:txBody>
      </p:sp>
      <p:sp>
        <p:nvSpPr>
          <p:cNvPr id="39" name="slide8-title">
            <a:extLst xmlns:a="http://schemas.openxmlformats.org/drawingml/2006/main">
              <a:ext uri="{FF2B5EF4-FFF2-40B4-BE49-F238E27FC236}">
                <a16:creationId xmlns:a16="http://schemas.microsoft.com/office/drawing/2014/main" id="{14B0EF3F-527C-4000-B1BB-9E3368E3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数字人模块正从独立服务向面试流程融合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B614A0-CFEE-4CF7-AE4E-1D6165E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4A6949-79FF-4DAC-B15E-FAACCF0D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701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EFC732-BD0E-42C7-975B-A0F1C61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38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43" name="pipe-main-0">
            <a:extLst xmlns:a="http://schemas.openxmlformats.org/drawingml/2006/main">
              <a:ext uri="{FF2B5EF4-FFF2-40B4-BE49-F238E27FC236}">
                <a16:creationId xmlns:a16="http://schemas.microsoft.com/office/drawing/2014/main" id="{1EFA33B7-548D-45CD-A663-6342FF5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28875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8FC"/>
                </a:solidFill>
              </a:defRPr>
            </a:pPr>
            <a:r>
              <a:rPr sz="1500" b="1">
                <a:solidFill>
                  <a:srgbClr val="F4F8FC"/>
                </a:solidFill>
              </a:rPr>
              <a:t>文本</a:t>
            </a:r>
          </a:p>
        </p:txBody>
      </p:sp>
      <p:sp>
        <p:nvSpPr>
          <p:cNvPr id="44" name="pipe-sub-0">
            <a:extLst xmlns:a="http://schemas.openxmlformats.org/drawingml/2006/main">
              <a:ext uri="{FF2B5EF4-FFF2-40B4-BE49-F238E27FC236}">
                <a16:creationId xmlns:a16="http://schemas.microsoft.com/office/drawing/2014/main" id="{FC10D51F-0BEE-4E4C-956B-173C2C8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面试内容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1D557E-2CB4-4DA9-AF75-4F02F00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46" name="pipe-main-1">
            <a:extLst xmlns:a="http://schemas.openxmlformats.org/drawingml/2006/main">
              <a:ext uri="{FF2B5EF4-FFF2-40B4-BE49-F238E27FC236}">
                <a16:creationId xmlns:a16="http://schemas.microsoft.com/office/drawing/2014/main" id="{EE57247D-2961-477A-AFD4-8945D56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8FC"/>
                </a:solidFill>
              </a:defRPr>
            </a:pPr>
            <a:r>
              <a:rPr sz="1500" b="1">
                <a:solidFill>
                  <a:srgbClr val="F4F8FC"/>
                </a:solidFill>
              </a:rPr>
              <a:t>TTS</a:t>
            </a:r>
          </a:p>
        </p:txBody>
      </p:sp>
      <p:sp>
        <p:nvSpPr>
          <p:cNvPr id="47" name="pipe-sub-1">
            <a:extLst xmlns:a="http://schemas.openxmlformats.org/drawingml/2006/main">
              <a:ext uri="{FF2B5EF4-FFF2-40B4-BE49-F238E27FC236}">
                <a16:creationId xmlns:a16="http://schemas.microsoft.com/office/drawing/2014/main" id="{DF58CDE1-C99D-4444-B6AA-89B82889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语音合成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8FE33D-64FD-48EC-9D64-D73E3BFA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49" name="pipe-main-2">
            <a:extLst xmlns:a="http://schemas.openxmlformats.org/drawingml/2006/main">
              <a:ext uri="{FF2B5EF4-FFF2-40B4-BE49-F238E27FC236}">
                <a16:creationId xmlns:a16="http://schemas.microsoft.com/office/drawing/2014/main" id="{A0AD4B85-D169-472B-9E69-BD409E82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28875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8FC"/>
                </a:solidFill>
              </a:defRPr>
            </a:pPr>
            <a:r>
              <a:rPr sz="1500" b="1">
                <a:solidFill>
                  <a:srgbClr val="F4F8FC"/>
                </a:solidFill>
              </a:rPr>
              <a:t>口型</a:t>
            </a:r>
          </a:p>
        </p:txBody>
      </p:sp>
      <p:sp>
        <p:nvSpPr>
          <p:cNvPr id="50" name="pipe-sub-2">
            <a:extLst xmlns:a="http://schemas.openxmlformats.org/drawingml/2006/main">
              <a:ext uri="{FF2B5EF4-FFF2-40B4-BE49-F238E27FC236}">
                <a16:creationId xmlns:a16="http://schemas.microsoft.com/office/drawing/2014/main" id="{03E49C43-333D-44C9-990E-5F3141B0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实时驱动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2867CD-61F3-4C30-A1E3-19AB9601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38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52" name="pipe-main-3">
            <a:extLst xmlns:a="http://schemas.openxmlformats.org/drawingml/2006/main">
              <a:ext uri="{FF2B5EF4-FFF2-40B4-BE49-F238E27FC236}">
                <a16:creationId xmlns:a16="http://schemas.microsoft.com/office/drawing/2014/main" id="{5A8D5198-4F07-448F-A427-F655281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28875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WebRTC</a:t>
            </a:r>
          </a:p>
        </p:txBody>
      </p:sp>
      <p:sp>
        <p:nvSpPr>
          <p:cNvPr id="53" name="pipe-sub-3">
            <a:extLst xmlns:a="http://schemas.openxmlformats.org/drawingml/2006/main">
              <a:ext uri="{FF2B5EF4-FFF2-40B4-BE49-F238E27FC236}">
                <a16:creationId xmlns:a16="http://schemas.microsoft.com/office/drawing/2014/main" id="{5E9556CC-F5F8-4C8C-A44D-5E5DC73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音视频传输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F1129A-2E36-4465-8B0C-8CD4CCA5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55" name="pipe-main-4">
            <a:extLst xmlns:a="http://schemas.openxmlformats.org/drawingml/2006/main">
              <a:ext uri="{FF2B5EF4-FFF2-40B4-BE49-F238E27FC236}">
                <a16:creationId xmlns:a16="http://schemas.microsoft.com/office/drawing/2014/main" id="{8090F0C2-A924-49A4-81E2-2FF3563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28875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8FC"/>
                </a:solidFill>
              </a:defRPr>
            </a:pPr>
            <a:r>
              <a:rPr sz="1500" b="1">
                <a:solidFill>
                  <a:srgbClr val="F4F8FC"/>
                </a:solidFill>
              </a:rPr>
              <a:t>页面</a:t>
            </a:r>
          </a:p>
        </p:txBody>
      </p:sp>
      <p:sp>
        <p:nvSpPr>
          <p:cNvPr id="56" name="pipe-sub-4">
            <a:extLst xmlns:a="http://schemas.openxmlformats.org/drawingml/2006/main">
              <a:ext uri="{FF2B5EF4-FFF2-40B4-BE49-F238E27FC236}">
                <a16:creationId xmlns:a16="http://schemas.microsoft.com/office/drawing/2014/main" id="{DCBF201B-E697-48C0-A2D6-9608130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数字人呈现</a:t>
            </a:r>
          </a:p>
        </p:txBody>
      </p:sp>
      <p:sp>
        <p:nvSpPr>
          <p:cNvPr id="57" name="digital-ready">
            <a:extLst xmlns:a="http://schemas.openxmlformats.org/drawingml/2006/main">
              <a:ext uri="{FF2B5EF4-FFF2-40B4-BE49-F238E27FC236}">
                <a16:creationId xmlns:a16="http://schemas.microsoft.com/office/drawing/2014/main" id="{56C4B189-BC1A-41C7-AA3A-D03F750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953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8" name="digital-ready-title">
            <a:extLst xmlns:a="http://schemas.openxmlformats.org/drawingml/2006/main">
              <a:ext uri="{FF2B5EF4-FFF2-40B4-BE49-F238E27FC236}">
                <a16:creationId xmlns:a16="http://schemas.microsoft.com/office/drawing/2014/main" id="{7C1E2173-323F-4CF9-96FB-15903255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E8C"/>
                </a:solidFill>
              </a:defRPr>
            </a:pPr>
            <a:r>
              <a:rPr sz="1800" b="1">
                <a:solidFill>
                  <a:srgbClr val="168E8C"/>
                </a:solidFill>
              </a:rPr>
              <a:t>已具备</a:t>
            </a:r>
          </a:p>
        </p:txBody>
      </p:sp>
      <p:sp>
        <p:nvSpPr>
          <p:cNvPr id="59" name="digital-ready-list">
            <a:extLst xmlns:a="http://schemas.openxmlformats.org/drawingml/2006/main">
              <a:ext uri="{FF2B5EF4-FFF2-40B4-BE49-F238E27FC236}">
                <a16:creationId xmlns:a16="http://schemas.microsoft.com/office/drawing/2014/main" id="{85BB19EE-BAE7-4842-9976-EB3296D8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LiveTalking 数字人服务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WebRTC 实时音视频链路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TTS 与前端展示组件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后端进程管理与状态接口</a:t>
            </a:r>
          </a:p>
        </p:txBody>
      </p:sp>
      <p:sp>
        <p:nvSpPr>
          <p:cNvPr id="60" name="digital-next">
            <a:extLst xmlns:a="http://schemas.openxmlformats.org/drawingml/2006/main">
              <a:ext uri="{FF2B5EF4-FFF2-40B4-BE49-F238E27FC236}">
                <a16:creationId xmlns:a16="http://schemas.microsoft.com/office/drawing/2014/main" id="{458CD768-A85A-4E87-AE01-0F095535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4953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1" name="digital-next-title">
            <a:extLst xmlns:a="http://schemas.openxmlformats.org/drawingml/2006/main">
              <a:ext uri="{FF2B5EF4-FFF2-40B4-BE49-F238E27FC236}">
                <a16:creationId xmlns:a16="http://schemas.microsoft.com/office/drawing/2014/main" id="{ED18E88E-322B-4515-B02C-306B882B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8222"/>
                </a:solidFill>
              </a:defRPr>
            </a:pPr>
            <a:r>
              <a:rPr sz="1800" b="1">
                <a:solidFill>
                  <a:srgbClr val="D98222"/>
                </a:solidFill>
              </a:rPr>
              <a:t>待完善</a:t>
            </a:r>
          </a:p>
        </p:txBody>
      </p:sp>
      <p:sp>
        <p:nvSpPr>
          <p:cNvPr id="62" name="digital-next-list">
            <a:extLst xmlns:a="http://schemas.openxmlformats.org/drawingml/2006/main">
              <a:ext uri="{FF2B5EF4-FFF2-40B4-BE49-F238E27FC236}">
                <a16:creationId xmlns:a16="http://schemas.microsoft.com/office/drawing/2014/main" id="{B7C707BD-1B73-4744-B0F9-A5CBE6D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音频、字幕与口型同步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面试会话状态联动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性能、稳定性与异常恢复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273449"/>
                </a:solidFill>
              </a:defRPr>
            </a:pPr>
            <a:r>
              <a:rPr sz="1350">
                <a:solidFill>
                  <a:srgbClr val="273449"/>
                </a:solidFill>
              </a:rPr>
              <a:t>• 服务不可用时的降级方案</a:t>
            </a:r>
          </a:p>
        </p:txBody>
      </p:sp>
    </p:spTree>
    <p:extLst>
      <p:ext uri="{BB962C8B-B14F-4D97-AF65-F5344CB8AC3E}">
        <p14:creationId xmlns:p14="http://schemas.microsoft.com/office/powerpoint/2010/main" val="619781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60387F-B809-4E85-A276-11AE591A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3E6A3-9D99-4303-86BA-BB364C65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18764-8BF4-4EE5-82C9-42F61B38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DC81-2ABD-4E3D-BFB7-7859412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B99AC-BD80-41A4-8E45-0F39462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B54CF-B204-48E9-AE86-BDB04B6B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D9FAF-EDFC-43E2-A69F-7D62235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F0AC-13E7-4F57-82E0-3A91FD0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F3D81-C1F0-441A-858E-F677215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9F72A-E2FE-4FED-B81E-35DDD11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C108-C67C-4AAB-8098-0BE21A18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EA946-DBCE-4310-A02E-E25C71A6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47825-2F49-4789-AA9A-32AB3F7C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141C9-687A-4079-A7FD-1A5867C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96AAE-8711-46D3-BA37-1CA3E1C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E4A10-D05E-46B1-AB00-68F6F60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A51DD-1A3D-4ECE-B6F7-366935A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E7F45-31D2-43D3-8290-5D02AF9C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EA1EC-C3B4-4CDA-9695-B28EDB87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39064-B472-49C0-87E6-EF377C3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95AE7-6641-476C-8617-5849755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D62D5-04EE-42CA-8131-B58A58A2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98EC1-32BB-44D0-AE10-3AF1E05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49062-5D58-413C-A808-5793A8B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F869C-92FB-46B2-8187-DA0C5829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5FF99-82D9-455E-AEC3-A6AB9616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5EAA2-B727-432B-BEF1-76BB058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47396-C99A-4598-BE0E-C7C2578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861AA-4E90-4D26-8416-40F1A95C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6DA2C-1A0A-4EC9-96CB-D94DDE7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763BA-239A-418C-BEB8-DB030F8E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7FC197-8A5F-4CC8-ADA7-23A11B8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D7FE8-4883-4C03-8D2E-785BC98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43B37-2FC6-4AF9-8919-16D6A42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F8E24-BDB5-41AE-8A93-94E560D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E423A2-7EF3-466A-85FB-CE93E65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9">
            <a:extLst xmlns:a="http://schemas.openxmlformats.org/drawingml/2006/main">
              <a:ext uri="{FF2B5EF4-FFF2-40B4-BE49-F238E27FC236}">
                <a16:creationId xmlns:a16="http://schemas.microsoft.com/office/drawing/2014/main" id="{9148B090-BD71-44A0-9EE7-B50A093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09</a:t>
            </a:r>
          </a:p>
        </p:txBody>
      </p:sp>
      <p:sp>
        <p:nvSpPr>
          <p:cNvPr id="38" name="slide9-eyebrow">
            <a:extLst xmlns:a="http://schemas.openxmlformats.org/drawingml/2006/main">
              <a:ext uri="{FF2B5EF4-FFF2-40B4-BE49-F238E27FC236}">
                <a16:creationId xmlns:a16="http://schemas.microsoft.com/office/drawing/2014/main" id="{80A001C1-E74E-4099-A86B-4CBAA0B0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09 / OVERALL PROGRESS</a:t>
            </a:r>
          </a:p>
        </p:txBody>
      </p:sp>
      <p:sp>
        <p:nvSpPr>
          <p:cNvPr id="39" name="slide9-title">
            <a:extLst xmlns:a="http://schemas.openxmlformats.org/drawingml/2006/main">
              <a:ext uri="{FF2B5EF4-FFF2-40B4-BE49-F238E27FC236}">
                <a16:creationId xmlns:a16="http://schemas.microsoft.com/office/drawing/2014/main" id="{240C9848-44D0-49A8-B7BA-B600BC2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主体功能基本成形，数字人融合与系统验证是下一阶段重点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6B638-70E3-4609-8E56-E635997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rogress-name-0">
            <a:extLst xmlns:a="http://schemas.openxmlformats.org/drawingml/2006/main">
              <a:ext uri="{FF2B5EF4-FFF2-40B4-BE49-F238E27FC236}">
                <a16:creationId xmlns:a16="http://schemas.microsoft.com/office/drawing/2014/main" id="{A4ABE410-9A5D-4E8A-B13B-09C74F7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需求分析与系统设计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65D90B-D0E1-440E-B678-A20E966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33BCD5-EC87-4409-978B-5AEE106D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rogress-status-0">
            <a:extLst xmlns:a="http://schemas.openxmlformats.org/drawingml/2006/main">
              <a:ext uri="{FF2B5EF4-FFF2-40B4-BE49-F238E27FC236}">
                <a16:creationId xmlns:a16="http://schemas.microsoft.com/office/drawing/2014/main" id="{821C51AE-C18D-4A93-8208-A3298F3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763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5" name="progress-status-text-0">
            <a:extLst xmlns:a="http://schemas.openxmlformats.org/drawingml/2006/main">
              <a:ext uri="{FF2B5EF4-FFF2-40B4-BE49-F238E27FC236}">
                <a16:creationId xmlns:a16="http://schemas.microsoft.com/office/drawing/2014/main" id="{BEEA7EDB-3602-4ED2-9D20-3C0D0E05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已完成</a:t>
            </a:r>
          </a:p>
        </p:txBody>
      </p:sp>
      <p:sp>
        <p:nvSpPr>
          <p:cNvPr id="46" name="progress-name-1">
            <a:extLst xmlns:a="http://schemas.openxmlformats.org/drawingml/2006/main">
              <a:ext uri="{FF2B5EF4-FFF2-40B4-BE49-F238E27FC236}">
                <a16:creationId xmlns:a16="http://schemas.microsoft.com/office/drawing/2014/main" id="{99302A2E-B512-43DE-B683-1796C8B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前端页面与交互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5A0731-40F1-495A-B667-E841DCD3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1C47E0-B6B8-4ACD-82CD-808493F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494538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rogress-status-1">
            <a:extLst xmlns:a="http://schemas.openxmlformats.org/drawingml/2006/main">
              <a:ext uri="{FF2B5EF4-FFF2-40B4-BE49-F238E27FC236}">
                <a16:creationId xmlns:a16="http://schemas.microsoft.com/office/drawing/2014/main" id="{5AFFB1D6-3632-4EDE-90A9-C13B912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0" name="progress-status-text-1">
            <a:extLst xmlns:a="http://schemas.openxmlformats.org/drawingml/2006/main">
              <a:ext uri="{FF2B5EF4-FFF2-40B4-BE49-F238E27FC236}">
                <a16:creationId xmlns:a16="http://schemas.microsoft.com/office/drawing/2014/main" id="{3C5B878D-FFFB-402D-888C-A5EAA3FF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基本完成</a:t>
            </a:r>
          </a:p>
        </p:txBody>
      </p:sp>
      <p:sp>
        <p:nvSpPr>
          <p:cNvPr id="51" name="progress-name-2">
            <a:extLst xmlns:a="http://schemas.openxmlformats.org/drawingml/2006/main">
              <a:ext uri="{FF2B5EF4-FFF2-40B4-BE49-F238E27FC236}">
                <a16:creationId xmlns:a16="http://schemas.microsoft.com/office/drawing/2014/main" id="{E70BEBDA-9D45-4E83-9579-2BFE04A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后端业务接口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C39E30-04F1-4FC5-85D0-9C6E1546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F81CBB-FA9C-4F7E-B695-4000638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483298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rogress-status-2">
            <a:extLst xmlns:a="http://schemas.openxmlformats.org/drawingml/2006/main">
              <a:ext uri="{FF2B5EF4-FFF2-40B4-BE49-F238E27FC236}">
                <a16:creationId xmlns:a16="http://schemas.microsoft.com/office/drawing/2014/main" id="{CFD000D0-0E77-4855-8731-8CC1BC2D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812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5" name="progress-status-text-2">
            <a:extLst xmlns:a="http://schemas.openxmlformats.org/drawingml/2006/main">
              <a:ext uri="{FF2B5EF4-FFF2-40B4-BE49-F238E27FC236}">
                <a16:creationId xmlns:a16="http://schemas.microsoft.com/office/drawing/2014/main" id="{92CF73CC-67AF-4CC9-9DA2-EADBA55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基本完成</a:t>
            </a:r>
          </a:p>
        </p:txBody>
      </p:sp>
      <p:sp>
        <p:nvSpPr>
          <p:cNvPr id="56" name="progress-name-3">
            <a:extLst xmlns:a="http://schemas.openxmlformats.org/drawingml/2006/main">
              <a:ext uri="{FF2B5EF4-FFF2-40B4-BE49-F238E27FC236}">
                <a16:creationId xmlns:a16="http://schemas.microsoft.com/office/drawing/2014/main" id="{57F9956E-38CF-4A94-B5BC-DC0B307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模拟面试闭环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D1A94E-246E-42E7-8CE8-983697D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50ADC0-7649-4B9F-9453-3A3B9F6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460819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ogress-status-3">
            <a:extLst xmlns:a="http://schemas.openxmlformats.org/drawingml/2006/main">
              <a:ext uri="{FF2B5EF4-FFF2-40B4-BE49-F238E27FC236}">
                <a16:creationId xmlns:a16="http://schemas.microsoft.com/office/drawing/2014/main" id="{E4108673-12B2-49FF-B111-CD50D4B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337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0" name="progress-status-text-3">
            <a:extLst xmlns:a="http://schemas.openxmlformats.org/drawingml/2006/main">
              <a:ext uri="{FF2B5EF4-FFF2-40B4-BE49-F238E27FC236}">
                <a16:creationId xmlns:a16="http://schemas.microsoft.com/office/drawing/2014/main" id="{AF808A5C-2B79-4C0A-8552-D87F6FD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04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C7B9"/>
                </a:solidFill>
              </a:defRPr>
            </a:pPr>
            <a:r>
              <a:rPr sz="1200" b="1">
                <a:solidFill>
                  <a:srgbClr val="42C7B9"/>
                </a:solidFill>
              </a:rPr>
              <a:t>已跑通</a:t>
            </a:r>
          </a:p>
        </p:txBody>
      </p:sp>
      <p:sp>
        <p:nvSpPr>
          <p:cNvPr id="61" name="progress-name-4">
            <a:extLst xmlns:a="http://schemas.openxmlformats.org/drawingml/2006/main">
              <a:ext uri="{FF2B5EF4-FFF2-40B4-BE49-F238E27FC236}">
                <a16:creationId xmlns:a16="http://schemas.microsoft.com/office/drawing/2014/main" id="{B609ADB1-91C3-4D69-92A9-8A1CBCA0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能力报告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3F1114-B785-429F-85E4-D5F25C5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82AC55-D4CF-45C1-8DCD-A11E98C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438340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rogress-status-4">
            <a:extLst xmlns:a="http://schemas.openxmlformats.org/drawingml/2006/main">
              <a:ext uri="{FF2B5EF4-FFF2-40B4-BE49-F238E27FC236}">
                <a16:creationId xmlns:a16="http://schemas.microsoft.com/office/drawing/2014/main" id="{B708297C-B07D-457E-AF70-2519C17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861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5" name="progress-status-text-4">
            <a:extLst xmlns:a="http://schemas.openxmlformats.org/drawingml/2006/main">
              <a:ext uri="{FF2B5EF4-FFF2-40B4-BE49-F238E27FC236}">
                <a16:creationId xmlns:a16="http://schemas.microsoft.com/office/drawing/2014/main" id="{271ADDAF-A66E-4FC7-AB9F-6910071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528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C7B9"/>
                </a:solidFill>
              </a:defRPr>
            </a:pPr>
            <a:r>
              <a:rPr sz="1200" b="1">
                <a:solidFill>
                  <a:srgbClr val="42C7B9"/>
                </a:solidFill>
              </a:rPr>
              <a:t>基础版完成</a:t>
            </a:r>
          </a:p>
        </p:txBody>
      </p:sp>
      <p:sp>
        <p:nvSpPr>
          <p:cNvPr id="66" name="progress-name-5">
            <a:extLst xmlns:a="http://schemas.openxmlformats.org/drawingml/2006/main">
              <a:ext uri="{FF2B5EF4-FFF2-40B4-BE49-F238E27FC236}">
                <a16:creationId xmlns:a16="http://schemas.microsoft.com/office/drawing/2014/main" id="{154C0CEB-5B67-4C91-ADF9-DB4BBED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教师端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26E69D-6EE6-4127-83B3-AB0A1C4B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23D9EE-8881-4A47-BAF3-EF2349D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382143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rogress-status-5">
            <a:extLst xmlns:a="http://schemas.openxmlformats.org/drawingml/2006/main">
              <a:ext uri="{FF2B5EF4-FFF2-40B4-BE49-F238E27FC236}">
                <a16:creationId xmlns:a16="http://schemas.microsoft.com/office/drawing/2014/main" id="{F2696BB1-6C27-4CF6-B65B-E786CA8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386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0" name="progress-status-text-5">
            <a:extLst xmlns:a="http://schemas.openxmlformats.org/drawingml/2006/main">
              <a:ext uri="{FF2B5EF4-FFF2-40B4-BE49-F238E27FC236}">
                <a16:creationId xmlns:a16="http://schemas.microsoft.com/office/drawing/2014/main" id="{42F1726F-1E2F-46BD-93F3-536AF27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053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2C7B9"/>
                </a:solidFill>
              </a:defRPr>
            </a:pPr>
            <a:r>
              <a:rPr sz="1200" b="1">
                <a:solidFill>
                  <a:srgbClr val="42C7B9"/>
                </a:solidFill>
              </a:rPr>
              <a:t>持续完善</a:t>
            </a:r>
          </a:p>
        </p:txBody>
      </p:sp>
      <p:sp>
        <p:nvSpPr>
          <p:cNvPr id="71" name="progress-name-6">
            <a:extLst xmlns:a="http://schemas.openxmlformats.org/drawingml/2006/main">
              <a:ext uri="{FF2B5EF4-FFF2-40B4-BE49-F238E27FC236}">
                <a16:creationId xmlns:a16="http://schemas.microsoft.com/office/drawing/2014/main" id="{27072743-E8EE-45D4-9827-F37885B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数字人整合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51AD94-038E-4D82-9D0C-29D6EDE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DFFA80-5249-4740-89B9-52FAB5F2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269748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rogress-status-6">
            <a:extLst xmlns:a="http://schemas.openxmlformats.org/drawingml/2006/main">
              <a:ext uri="{FF2B5EF4-FFF2-40B4-BE49-F238E27FC236}">
                <a16:creationId xmlns:a16="http://schemas.microsoft.com/office/drawing/2014/main" id="{40064EFF-2A79-4B07-BEFE-FD555C67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910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5" name="progress-status-text-6">
            <a:extLst xmlns:a="http://schemas.openxmlformats.org/drawingml/2006/main">
              <a:ext uri="{FF2B5EF4-FFF2-40B4-BE49-F238E27FC236}">
                <a16:creationId xmlns:a16="http://schemas.microsoft.com/office/drawing/2014/main" id="{43CBD973-0257-4386-B875-4BF1BA21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A65A"/>
                </a:solidFill>
              </a:defRPr>
            </a:pPr>
            <a:r>
              <a:rPr sz="1200" b="1">
                <a:solidFill>
                  <a:srgbClr val="F2A65A"/>
                </a:solidFill>
              </a:rPr>
              <a:t>进行中</a:t>
            </a:r>
          </a:p>
        </p:txBody>
      </p:sp>
      <p:sp>
        <p:nvSpPr>
          <p:cNvPr id="76" name="progress-name-7">
            <a:extLst xmlns:a="http://schemas.openxmlformats.org/drawingml/2006/main">
              <a:ext uri="{FF2B5EF4-FFF2-40B4-BE49-F238E27FC236}">
                <a16:creationId xmlns:a16="http://schemas.microsoft.com/office/drawing/2014/main" id="{B6B970E2-7F91-4125-9AFF-C0A9ABE5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3449"/>
                </a:solidFill>
              </a:defRPr>
            </a:pPr>
            <a:r>
              <a:rPr sz="1350" b="1">
                <a:solidFill>
                  <a:srgbClr val="273449"/>
                </a:solidFill>
              </a:rPr>
              <a:t>联调测试与部署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844BE9-541B-46A3-B406-C902BE0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5619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D91C28-0F8F-43A7-AE8B-3BE2D0B5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46113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rogress-status-7">
            <a:extLst xmlns:a="http://schemas.openxmlformats.org/drawingml/2006/main">
              <a:ext uri="{FF2B5EF4-FFF2-40B4-BE49-F238E27FC236}">
                <a16:creationId xmlns:a16="http://schemas.microsoft.com/office/drawing/2014/main" id="{555FFDF3-E09C-45EE-BF2B-5945C38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435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80" name="progress-status-text-7">
            <a:extLst xmlns:a="http://schemas.openxmlformats.org/drawingml/2006/main">
              <a:ext uri="{FF2B5EF4-FFF2-40B4-BE49-F238E27FC236}">
                <a16:creationId xmlns:a16="http://schemas.microsoft.com/office/drawing/2014/main" id="{B0A220B6-43D1-4C98-9CD5-20D5AA4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102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A65A"/>
                </a:solidFill>
              </a:defRPr>
            </a:pPr>
            <a:r>
              <a:rPr sz="1200" b="1">
                <a:solidFill>
                  <a:srgbClr val="F2A65A"/>
                </a:solidFill>
              </a:rPr>
              <a:t>待集中推进</a:t>
            </a:r>
          </a:p>
        </p:txBody>
      </p:sp>
      <p:sp>
        <p:nvSpPr>
          <p:cNvPr id="81" name="progress-note">
            <a:extLst xmlns:a="http://schemas.openxmlformats.org/drawingml/2006/main">
              <a:ext uri="{FF2B5EF4-FFF2-40B4-BE49-F238E27FC236}">
                <a16:creationId xmlns:a16="http://schemas.microsoft.com/office/drawing/2014/main" id="{E627DA73-4B6F-4E73-995E-BE5B07F2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019800"/>
            <a:ext cx="811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82" name="progress-note-text">
            <a:extLst xmlns:a="http://schemas.openxmlformats.org/drawingml/2006/main">
              <a:ext uri="{FF2B5EF4-FFF2-40B4-BE49-F238E27FC236}">
                <a16:creationId xmlns:a16="http://schemas.microsoft.com/office/drawing/2014/main" id="{D44E2D4C-7581-42A1-82F7-3656D5D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34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F4FA"/>
                </a:solidFill>
              </a:defRPr>
            </a:pPr>
            <a:r>
              <a:rPr sz="1275" b="1">
                <a:solidFill>
                  <a:srgbClr val="EEF4FA"/>
                </a:solidFill>
              </a:rPr>
              <a:t>进度条用于表达相对完成度，不代表未经验证的精确百分比。</a:t>
            </a:r>
          </a:p>
        </p:txBody>
      </p:sp>
    </p:spTree>
    <p:extLst>
      <p:ext uri="{BB962C8B-B14F-4D97-AF65-F5344CB8AC3E}">
        <p14:creationId xmlns:p14="http://schemas.microsoft.com/office/powerpoint/2010/main" val="1881252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8713C2-B0C3-4942-87CA-A204300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0E8E3-B967-4758-810D-8EEC4FD1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13070-446C-4A7F-B825-6C57037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753D-9BB7-44D7-894E-EA7EF01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D0969-0F11-4D8A-89F6-529E2228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0DBF-15D3-48E7-A853-72924AC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C4D96-A342-4D6B-ADF6-FA162C22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14DBC-AC4E-499E-AD5E-4A6F574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7F9A5-6962-4CAD-B233-7F840B15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15763-B26C-42A8-954A-C2C3D79E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88831-6DDE-4F6B-9BED-ECE823F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51470-5675-455D-9A2D-2D6C5C8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E99B8-A986-487E-BEBD-1BBC46A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172EA-0449-48A6-8E6D-6F140932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F7806-C567-4407-A6B1-D1CF157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B554E-F532-4D97-8373-4AA72806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962F2-9771-4ED4-BE13-96D1F8D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149-AE5C-4806-9B19-344907A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38821-675F-4BC0-B466-CDA092DC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C42A4-987F-443F-83ED-1AE7F6AF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43AA7-64F1-426A-8723-6C828F4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0254A-281B-477E-8C64-DC2A2E57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C5D40-B185-404A-8070-397E0CA9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3410D-684A-49A7-A53C-059B369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85483-0055-41F5-8B46-5EC6AD3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A706C-B0BD-41A0-BD28-6716BC78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9760E-BE74-41E9-AB18-5A040A38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20174-2540-4643-810C-6BEB9AD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409CE-1611-4E23-8A32-528C23E7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BE0A1-723D-4419-AE41-1A2168DC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5ABFC-34AB-4B4F-ACB9-1B50493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5D81D-51F1-4FEC-BA91-16C56D4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9F915-B926-4104-8771-C675652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502581-D9C9-49CD-BE5F-4B6353E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86B10F-D1F6-4F1E-A833-A6D5A4B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52B9C7-DC0C-43D2-A9D0-A6DF5EC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10">
            <a:extLst xmlns:a="http://schemas.openxmlformats.org/drawingml/2006/main">
              <a:ext uri="{FF2B5EF4-FFF2-40B4-BE49-F238E27FC236}">
                <a16:creationId xmlns:a16="http://schemas.microsoft.com/office/drawing/2014/main" id="{F8044F12-6B37-45FD-809F-ADE8A87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10</a:t>
            </a:r>
          </a:p>
        </p:txBody>
      </p:sp>
      <p:sp>
        <p:nvSpPr>
          <p:cNvPr id="38" name="slide10-eyebrow">
            <a:extLst xmlns:a="http://schemas.openxmlformats.org/drawingml/2006/main">
              <a:ext uri="{FF2B5EF4-FFF2-40B4-BE49-F238E27FC236}">
                <a16:creationId xmlns:a16="http://schemas.microsoft.com/office/drawing/2014/main" id="{5412F078-D924-4831-A136-CB86F49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10 / RISKS &amp; RESPONSES</a:t>
            </a:r>
          </a:p>
        </p:txBody>
      </p:sp>
      <p:sp>
        <p:nvSpPr>
          <p:cNvPr id="39" name="slide10-title">
            <a:extLst xmlns:a="http://schemas.openxmlformats.org/drawingml/2006/main">
              <a:ext uri="{FF2B5EF4-FFF2-40B4-BE49-F238E27FC236}">
                <a16:creationId xmlns:a16="http://schemas.microsoft.com/office/drawing/2014/main" id="{61F90675-6565-4CD2-B650-FEF56D00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当前难点集中在智能效果、数字人稳定性与验证数据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EA175A-2268-4A30-94DD-35222A2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ssue-head-0">
            <a:extLst xmlns:a="http://schemas.openxmlformats.org/drawingml/2006/main">
              <a:ext uri="{FF2B5EF4-FFF2-40B4-BE49-F238E27FC236}">
                <a16:creationId xmlns:a16="http://schemas.microsoft.com/office/drawing/2014/main" id="{1A23AFBB-7A96-4E52-8A4C-820CBF14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42" name="issue-head-text-0">
            <a:extLst xmlns:a="http://schemas.openxmlformats.org/drawingml/2006/main">
              <a:ext uri="{FF2B5EF4-FFF2-40B4-BE49-F238E27FC236}">
                <a16:creationId xmlns:a16="http://schemas.microsoft.com/office/drawing/2014/main" id="{DB6B892B-4390-4FE5-AF71-5B65AE8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7FB"/>
                </a:solidFill>
              </a:defRPr>
            </a:pPr>
            <a:r>
              <a:rPr sz="1500" b="1">
                <a:solidFill>
                  <a:srgbClr val="F3F7FB"/>
                </a:solidFill>
              </a:rPr>
              <a:t>当前问题</a:t>
            </a:r>
          </a:p>
        </p:txBody>
      </p:sp>
      <p:sp>
        <p:nvSpPr>
          <p:cNvPr id="43" name="issue-head-1">
            <a:extLst xmlns:a="http://schemas.openxmlformats.org/drawingml/2006/main">
              <a:ext uri="{FF2B5EF4-FFF2-40B4-BE49-F238E27FC236}">
                <a16:creationId xmlns:a16="http://schemas.microsoft.com/office/drawing/2014/main" id="{DF93F356-0D04-4980-86DD-2A17E66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049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977E8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44" name="issue-head-text-1">
            <a:extLst xmlns:a="http://schemas.openxmlformats.org/drawingml/2006/main">
              <a:ext uri="{FF2B5EF4-FFF2-40B4-BE49-F238E27FC236}">
                <a16:creationId xmlns:a16="http://schemas.microsoft.com/office/drawing/2014/main" id="{2EE925C0-E1FA-4F73-8510-6CA79FDA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192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7FB"/>
                </a:solidFill>
              </a:defRPr>
            </a:pPr>
            <a:r>
              <a:rPr sz="1500" b="1">
                <a:solidFill>
                  <a:srgbClr val="F3F7FB"/>
                </a:solidFill>
              </a:rPr>
              <a:t>主要影响</a:t>
            </a:r>
          </a:p>
        </p:txBody>
      </p:sp>
      <p:sp>
        <p:nvSpPr>
          <p:cNvPr id="45" name="issue-head-2">
            <a:extLst xmlns:a="http://schemas.openxmlformats.org/drawingml/2006/main">
              <a:ext uri="{FF2B5EF4-FFF2-40B4-BE49-F238E27FC236}">
                <a16:creationId xmlns:a16="http://schemas.microsoft.com/office/drawing/2014/main" id="{053D1D29-E5C8-44AF-9F2B-94EA309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895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16233B"/>
            </a:solidFill>
            <a:prstDash val="solid"/>
          </a:ln>
        </p:spPr>
      </p:sp>
      <p:sp>
        <p:nvSpPr>
          <p:cNvPr id="46" name="issue-head-text-2">
            <a:extLst xmlns:a="http://schemas.openxmlformats.org/drawingml/2006/main">
              <a:ext uri="{FF2B5EF4-FFF2-40B4-BE49-F238E27FC236}">
                <a16:creationId xmlns:a16="http://schemas.microsoft.com/office/drawing/2014/main" id="{EC539C41-2626-4F43-AAA2-CED6812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F7FB"/>
                </a:solidFill>
              </a:defRPr>
            </a:pPr>
            <a:r>
              <a:rPr sz="1500" b="1">
                <a:solidFill>
                  <a:srgbClr val="F3F7FB"/>
                </a:solidFill>
              </a:rPr>
              <a:t>下一步处理</a:t>
            </a:r>
          </a:p>
        </p:txBody>
      </p:sp>
      <p:sp>
        <p:nvSpPr>
          <p:cNvPr id="47" name="issue-0-0">
            <a:extLst xmlns:a="http://schemas.openxmlformats.org/drawingml/2006/main">
              <a:ext uri="{FF2B5EF4-FFF2-40B4-BE49-F238E27FC236}">
                <a16:creationId xmlns:a16="http://schemas.microsoft.com/office/drawing/2014/main" id="{8458AB6B-65EB-475F-AB88-B358FC9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48" name="issue-text-0-0">
            <a:extLst xmlns:a="http://schemas.openxmlformats.org/drawingml/2006/main">
              <a:ext uri="{FF2B5EF4-FFF2-40B4-BE49-F238E27FC236}">
                <a16:creationId xmlns:a16="http://schemas.microsoft.com/office/drawing/2014/main" id="{E2779D49-739D-45DC-8913-6365FAC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追问质量存在波动</a:t>
            </a:r>
          </a:p>
        </p:txBody>
      </p:sp>
      <p:sp>
        <p:nvSpPr>
          <p:cNvPr id="49" name="issue-0-1">
            <a:extLst xmlns:a="http://schemas.openxmlformats.org/drawingml/2006/main">
              <a:ext uri="{FF2B5EF4-FFF2-40B4-BE49-F238E27FC236}">
                <a16:creationId xmlns:a16="http://schemas.microsoft.com/office/drawing/2014/main" id="{C8189A50-9268-4F0F-98B5-0CE8B550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0" name="issue-text-0-1">
            <a:extLst xmlns:a="http://schemas.openxmlformats.org/drawingml/2006/main">
              <a:ext uri="{FF2B5EF4-FFF2-40B4-BE49-F238E27FC236}">
                <a16:creationId xmlns:a16="http://schemas.microsoft.com/office/drawing/2014/main" id="{0C6178C6-CC28-4A2F-887B-5BCD23B7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7647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449"/>
                </a:solidFill>
              </a:defRPr>
            </a:pPr>
            <a:r>
              <a:rPr sz="1275" b="0">
                <a:solidFill>
                  <a:srgbClr val="273449"/>
                </a:solidFill>
              </a:rPr>
              <a:t>影响对话真实性</a:t>
            </a:r>
          </a:p>
        </p:txBody>
      </p:sp>
      <p:sp>
        <p:nvSpPr>
          <p:cNvPr id="51" name="issue-0-2">
            <a:extLst xmlns:a="http://schemas.openxmlformats.org/drawingml/2006/main">
              <a:ext uri="{FF2B5EF4-FFF2-40B4-BE49-F238E27FC236}">
                <a16:creationId xmlns:a16="http://schemas.microsoft.com/office/drawing/2014/main" id="{4700B79B-C63F-4B96-B159-CF0FC52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895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2" name="issue-text-0-2">
            <a:extLst xmlns:a="http://schemas.openxmlformats.org/drawingml/2006/main">
              <a:ext uri="{FF2B5EF4-FFF2-40B4-BE49-F238E27FC236}">
                <a16:creationId xmlns:a16="http://schemas.microsoft.com/office/drawing/2014/main" id="{D7549CC1-FB5E-49E9-AC07-B6F9222C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76475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A61"/>
                </a:solidFill>
              </a:defRPr>
            </a:pPr>
            <a:r>
              <a:rPr sz="1200" b="0">
                <a:solidFill>
                  <a:srgbClr val="334A61"/>
                </a:solidFill>
              </a:rPr>
              <a:t>优化提示词、上下文约束与异常回答处理</a:t>
            </a:r>
          </a:p>
        </p:txBody>
      </p:sp>
      <p:sp>
        <p:nvSpPr>
          <p:cNvPr id="53" name="issue-1-0">
            <a:extLst xmlns:a="http://schemas.openxmlformats.org/drawingml/2006/main">
              <a:ext uri="{FF2B5EF4-FFF2-40B4-BE49-F238E27FC236}">
                <a16:creationId xmlns:a16="http://schemas.microsoft.com/office/drawing/2014/main" id="{88003F5A-9324-4E9B-B705-0755857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4" name="issue-text-1-0">
            <a:extLst xmlns:a="http://schemas.openxmlformats.org/drawingml/2006/main">
              <a:ext uri="{FF2B5EF4-FFF2-40B4-BE49-F238E27FC236}">
                <a16:creationId xmlns:a16="http://schemas.microsoft.com/office/drawing/2014/main" id="{0BD67FAF-07BD-437C-95B3-1075FF5D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评价机制仍需验证</a:t>
            </a:r>
          </a:p>
        </p:txBody>
      </p:sp>
      <p:sp>
        <p:nvSpPr>
          <p:cNvPr id="55" name="issue-1-1">
            <a:extLst xmlns:a="http://schemas.openxmlformats.org/drawingml/2006/main">
              <a:ext uri="{FF2B5EF4-FFF2-40B4-BE49-F238E27FC236}">
                <a16:creationId xmlns:a16="http://schemas.microsoft.com/office/drawing/2014/main" id="{73CA55F0-17BC-4CB9-8F29-DFE8B967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1465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6" name="issue-text-1-1">
            <a:extLst xmlns:a="http://schemas.openxmlformats.org/drawingml/2006/main">
              <a:ext uri="{FF2B5EF4-FFF2-40B4-BE49-F238E27FC236}">
                <a16:creationId xmlns:a16="http://schemas.microsoft.com/office/drawing/2014/main" id="{1ADFFDB0-AF24-4091-8813-DE4173F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575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449"/>
                </a:solidFill>
              </a:defRPr>
            </a:pPr>
            <a:r>
              <a:rPr sz="1275" b="0">
                <a:solidFill>
                  <a:srgbClr val="273449"/>
                </a:solidFill>
              </a:rPr>
              <a:t>影响报告可信度</a:t>
            </a:r>
          </a:p>
        </p:txBody>
      </p:sp>
      <p:sp>
        <p:nvSpPr>
          <p:cNvPr id="57" name="issue-1-2">
            <a:extLst xmlns:a="http://schemas.openxmlformats.org/drawingml/2006/main">
              <a:ext uri="{FF2B5EF4-FFF2-40B4-BE49-F238E27FC236}">
                <a16:creationId xmlns:a16="http://schemas.microsoft.com/office/drawing/2014/main" id="{401F461F-A63C-4163-925C-0D5EE0A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895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58" name="issue-text-1-2">
            <a:extLst xmlns:a="http://schemas.openxmlformats.org/drawingml/2006/main">
              <a:ext uri="{FF2B5EF4-FFF2-40B4-BE49-F238E27FC236}">
                <a16:creationId xmlns:a16="http://schemas.microsoft.com/office/drawing/2014/main" id="{72452B30-C306-4548-9A7D-1BAA02B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57525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A61"/>
                </a:solidFill>
              </a:defRPr>
            </a:pPr>
            <a:r>
              <a:rPr sz="1200" b="0">
                <a:solidFill>
                  <a:srgbClr val="334A61"/>
                </a:solidFill>
              </a:rPr>
              <a:t>建立测试样本，与人工评分进行对照</a:t>
            </a:r>
          </a:p>
        </p:txBody>
      </p:sp>
      <p:sp>
        <p:nvSpPr>
          <p:cNvPr id="59" name="issue-2-0">
            <a:extLst xmlns:a="http://schemas.openxmlformats.org/drawingml/2006/main">
              <a:ext uri="{FF2B5EF4-FFF2-40B4-BE49-F238E27FC236}">
                <a16:creationId xmlns:a16="http://schemas.microsoft.com/office/drawing/2014/main" id="{91E22BC0-9712-4EC0-BE21-2A9A3A3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0" name="issue-text-2-0">
            <a:extLst xmlns:a="http://schemas.openxmlformats.org/drawingml/2006/main">
              <a:ext uri="{FF2B5EF4-FFF2-40B4-BE49-F238E27FC236}">
                <a16:creationId xmlns:a16="http://schemas.microsoft.com/office/drawing/2014/main" id="{BEE77D86-F88C-4065-9F4C-F9041157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数字人资源消耗较高</a:t>
            </a:r>
          </a:p>
        </p:txBody>
      </p:sp>
      <p:sp>
        <p:nvSpPr>
          <p:cNvPr id="61" name="issue-2-1">
            <a:extLst xmlns:a="http://schemas.openxmlformats.org/drawingml/2006/main">
              <a:ext uri="{FF2B5EF4-FFF2-40B4-BE49-F238E27FC236}">
                <a16:creationId xmlns:a16="http://schemas.microsoft.com/office/drawing/2014/main" id="{525E62A9-44F5-49B5-BB36-D1AD64CE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2" name="issue-text-2-1">
            <a:extLst xmlns:a="http://schemas.openxmlformats.org/drawingml/2006/main">
              <a:ext uri="{FF2B5EF4-FFF2-40B4-BE49-F238E27FC236}">
                <a16:creationId xmlns:a16="http://schemas.microsoft.com/office/drawing/2014/main" id="{0C15DA9A-52B3-4F3F-858F-5E1CD96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3857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449"/>
                </a:solidFill>
              </a:defRPr>
            </a:pPr>
            <a:r>
              <a:rPr sz="1275" b="0">
                <a:solidFill>
                  <a:srgbClr val="273449"/>
                </a:solidFill>
              </a:rPr>
              <a:t>影响运行稳定性</a:t>
            </a:r>
          </a:p>
        </p:txBody>
      </p:sp>
      <p:sp>
        <p:nvSpPr>
          <p:cNvPr id="63" name="issue-2-2">
            <a:extLst xmlns:a="http://schemas.openxmlformats.org/drawingml/2006/main">
              <a:ext uri="{FF2B5EF4-FFF2-40B4-BE49-F238E27FC236}">
                <a16:creationId xmlns:a16="http://schemas.microsoft.com/office/drawing/2014/main" id="{60ABF567-724C-4D27-ABA0-08B01BD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895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4" name="issue-text-2-2">
            <a:extLst xmlns:a="http://schemas.openxmlformats.org/drawingml/2006/main">
              <a:ext uri="{FF2B5EF4-FFF2-40B4-BE49-F238E27FC236}">
                <a16:creationId xmlns:a16="http://schemas.microsoft.com/office/drawing/2014/main" id="{2693B576-C0B4-4CC7-8798-172030A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38575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A61"/>
                </a:solidFill>
              </a:defRPr>
            </a:pPr>
            <a:r>
              <a:rPr sz="1200" b="0">
                <a:solidFill>
                  <a:srgbClr val="334A61"/>
                </a:solidFill>
              </a:rPr>
              <a:t>增加服务检测、资源控制与降级方案</a:t>
            </a:r>
          </a:p>
        </p:txBody>
      </p:sp>
      <p:sp>
        <p:nvSpPr>
          <p:cNvPr id="65" name="issue-3-0">
            <a:extLst xmlns:a="http://schemas.openxmlformats.org/drawingml/2006/main">
              <a:ext uri="{FF2B5EF4-FFF2-40B4-BE49-F238E27FC236}">
                <a16:creationId xmlns:a16="http://schemas.microsoft.com/office/drawing/2014/main" id="{7D680381-8F51-48D4-98CD-86D1E175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6" name="issue-text-3-0">
            <a:extLst xmlns:a="http://schemas.openxmlformats.org/drawingml/2006/main">
              <a:ext uri="{FF2B5EF4-FFF2-40B4-BE49-F238E27FC236}">
                <a16:creationId xmlns:a16="http://schemas.microsoft.com/office/drawing/2014/main" id="{F76D91BF-9877-4195-8017-6D12149A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功能链路较长</a:t>
            </a:r>
          </a:p>
        </p:txBody>
      </p:sp>
      <p:sp>
        <p:nvSpPr>
          <p:cNvPr id="67" name="issue-3-1">
            <a:extLst xmlns:a="http://schemas.openxmlformats.org/drawingml/2006/main">
              <a:ext uri="{FF2B5EF4-FFF2-40B4-BE49-F238E27FC236}">
                <a16:creationId xmlns:a16="http://schemas.microsoft.com/office/drawing/2014/main" id="{EDF69B83-FDD7-46F5-8FFE-0B422479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8" name="issue-text-3-1">
            <a:extLst xmlns:a="http://schemas.openxmlformats.org/drawingml/2006/main">
              <a:ext uri="{FF2B5EF4-FFF2-40B4-BE49-F238E27FC236}">
                <a16:creationId xmlns:a16="http://schemas.microsoft.com/office/drawing/2014/main" id="{16B0F10A-6094-4B56-9547-FAB435A9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196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449"/>
                </a:solidFill>
              </a:defRPr>
            </a:pPr>
            <a:r>
              <a:rPr sz="1275" b="0">
                <a:solidFill>
                  <a:srgbClr val="273449"/>
                </a:solidFill>
              </a:rPr>
              <a:t>容易出现边界问题</a:t>
            </a:r>
          </a:p>
        </p:txBody>
      </p:sp>
      <p:sp>
        <p:nvSpPr>
          <p:cNvPr id="69" name="issue-3-2">
            <a:extLst xmlns:a="http://schemas.openxmlformats.org/drawingml/2006/main">
              <a:ext uri="{FF2B5EF4-FFF2-40B4-BE49-F238E27FC236}">
                <a16:creationId xmlns:a16="http://schemas.microsoft.com/office/drawing/2014/main" id="{AB180BD1-72F3-4085-8E20-06353E21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895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EDF5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0" name="issue-text-3-2">
            <a:extLst xmlns:a="http://schemas.openxmlformats.org/drawingml/2006/main">
              <a:ext uri="{FF2B5EF4-FFF2-40B4-BE49-F238E27FC236}">
                <a16:creationId xmlns:a16="http://schemas.microsoft.com/office/drawing/2014/main" id="{E0324660-E244-4F11-B6A6-820CCEC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9625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A61"/>
                </a:solidFill>
              </a:defRPr>
            </a:pPr>
            <a:r>
              <a:rPr sz="1200" b="0">
                <a:solidFill>
                  <a:srgbClr val="334A61"/>
                </a:solidFill>
              </a:rPr>
              <a:t>补充接口、异常场景与全流程测试</a:t>
            </a:r>
          </a:p>
        </p:txBody>
      </p:sp>
      <p:sp>
        <p:nvSpPr>
          <p:cNvPr id="71" name="issue-4-0">
            <a:extLst xmlns:a="http://schemas.openxmlformats.org/drawingml/2006/main">
              <a:ext uri="{FF2B5EF4-FFF2-40B4-BE49-F238E27FC236}">
                <a16:creationId xmlns:a16="http://schemas.microsoft.com/office/drawing/2014/main" id="{798CBF8A-EA1C-4232-9187-327E2D40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2" name="issue-text-4-0">
            <a:extLst xmlns:a="http://schemas.openxmlformats.org/drawingml/2006/main">
              <a:ext uri="{FF2B5EF4-FFF2-40B4-BE49-F238E27FC236}">
                <a16:creationId xmlns:a16="http://schemas.microsoft.com/office/drawing/2014/main" id="{D4407F92-CA52-418D-A092-3B3D07E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449"/>
                </a:solidFill>
              </a:defRPr>
            </a:pPr>
            <a:r>
              <a:rPr sz="1275" b="1">
                <a:solidFill>
                  <a:srgbClr val="273449"/>
                </a:solidFill>
              </a:rPr>
              <a:t>真实试用数据较少</a:t>
            </a:r>
          </a:p>
        </p:txBody>
      </p:sp>
      <p:sp>
        <p:nvSpPr>
          <p:cNvPr id="73" name="issue-4-1">
            <a:extLst xmlns:a="http://schemas.openxmlformats.org/drawingml/2006/main">
              <a:ext uri="{FF2B5EF4-FFF2-40B4-BE49-F238E27FC236}">
                <a16:creationId xmlns:a16="http://schemas.microsoft.com/office/drawing/2014/main" id="{942B6D6A-5D79-4886-9A32-A52238D6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578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4" name="issue-text-4-1">
            <a:extLst xmlns:a="http://schemas.openxmlformats.org/drawingml/2006/main">
              <a:ext uri="{FF2B5EF4-FFF2-40B4-BE49-F238E27FC236}">
                <a16:creationId xmlns:a16="http://schemas.microsoft.com/office/drawing/2014/main" id="{BFD4243E-7F97-45C2-8EF8-C3FDC8F6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0067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449"/>
                </a:solidFill>
              </a:defRPr>
            </a:pPr>
            <a:r>
              <a:rPr sz="1275" b="0">
                <a:solidFill>
                  <a:srgbClr val="273449"/>
                </a:solidFill>
              </a:rPr>
              <a:t>难以判断使用效果</a:t>
            </a:r>
          </a:p>
        </p:txBody>
      </p:sp>
      <p:sp>
        <p:nvSpPr>
          <p:cNvPr id="75" name="issue-4-2">
            <a:extLst xmlns:a="http://schemas.openxmlformats.org/drawingml/2006/main">
              <a:ext uri="{FF2B5EF4-FFF2-40B4-BE49-F238E27FC236}">
                <a16:creationId xmlns:a16="http://schemas.microsoft.com/office/drawing/2014/main" id="{DF2459A4-B86C-470E-9156-104988E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895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76" name="issue-text-4-2">
            <a:extLst xmlns:a="http://schemas.openxmlformats.org/drawingml/2006/main">
              <a:ext uri="{FF2B5EF4-FFF2-40B4-BE49-F238E27FC236}">
                <a16:creationId xmlns:a16="http://schemas.microsoft.com/office/drawing/2014/main" id="{8042318E-3272-44CD-B187-1716B6CE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00675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A61"/>
                </a:solidFill>
              </a:defRPr>
            </a:pPr>
            <a:r>
              <a:rPr sz="1200" b="0">
                <a:solidFill>
                  <a:srgbClr val="334A61"/>
                </a:solidFill>
              </a:rPr>
              <a:t>组织小规模试用，收集反馈并迭代</a:t>
            </a:r>
          </a:p>
        </p:txBody>
      </p:sp>
      <p:sp>
        <p:nvSpPr>
          <p:cNvPr id="77" name="issue-foot">
            <a:extLst xmlns:a="http://schemas.openxmlformats.org/drawingml/2006/main">
              <a:ext uri="{FF2B5EF4-FFF2-40B4-BE49-F238E27FC236}">
                <a16:creationId xmlns:a16="http://schemas.microsoft.com/office/drawing/2014/main" id="{C53861E3-E00C-4B91-80EE-631144A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8222"/>
                </a:solidFill>
              </a:defRPr>
            </a:pPr>
            <a:r>
              <a:rPr sz="1350" b="1">
                <a:solidFill>
                  <a:srgbClr val="D98222"/>
                </a:solidFill>
              </a:rPr>
              <a:t>处理原则：先保证闭环稳定可演示，再逐步提升智能效果。</a:t>
            </a:r>
          </a:p>
        </p:txBody>
      </p:sp>
    </p:spTree>
    <p:extLst>
      <p:ext uri="{BB962C8B-B14F-4D97-AF65-F5344CB8AC3E}">
        <p14:creationId xmlns:p14="http://schemas.microsoft.com/office/powerpoint/2010/main" val="564514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E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775693-E094-4CD4-B474-3E6F7FE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F7C1-DE93-461F-813A-EEC06C5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F84C1-2D02-4C2F-A057-3A5775A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8233B-2E82-4C93-AE2F-A00DF5FF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92E3-7B54-45F3-82B0-76EAF24C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DEBD3-5BCB-448D-97F1-FFE25AC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7286E-652F-43AC-830A-950E3C0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E8485-7C1B-46A2-AF43-9CD87DF0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89AF5-18BC-49FD-A7DB-591CA21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2D7C1-0772-4D3C-9329-6EA8559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44E83-DF97-4C21-A245-5EB740C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2126E-C704-45B2-81FB-0E33533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A372A-3895-4DA8-A358-013CEC29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09D27-2106-4AD9-806F-2F0BA13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F1120-8018-45AF-85A1-C764A679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C3A1-2CE5-49A8-A08A-BA5A2576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C20D7-8378-4E29-A19D-2673D230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8BE16-9AA9-4CCC-B424-55871D0A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0449D-3A08-49DA-A826-3624B429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011E4-19A7-4688-A292-4855DD4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1BAEC-8731-4470-AAD0-2BBB5B33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33123-69D8-4C73-A785-46DBCBA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19A4B-B6E0-4118-9E3F-0335F16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7555F-B3BD-4972-ACA7-829A9ED2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BAC5D-0CC5-43F4-9BD7-EBBD4EB4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675D2-E11A-4C3E-8D81-04561FC7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6C9F6-7212-4F9A-8F0F-CB67BCFC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4DD1D-9592-4124-A3D7-830ABE9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06395-CCE7-4D12-BD37-5850DB14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17AEEC-AB82-447D-83E0-70033AD1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C2F18-AC76-409A-8FBB-7272022E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44924-8D60-439C-A295-83587648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D9196-D540-4584-8F41-55617DF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6C861-630F-4F2D-962A-E9E745CB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AECAC-F1D9-4A4F-9F27-91579FA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763CEB-54F6-45F1-A52A-6C3E70A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11658600" cy="6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B9D5"/>
            </a:solidFill>
            <a:prstDash val="solid"/>
          </a:ln>
        </p:spPr>
      </p:sp>
      <p:sp>
        <p:nvSpPr>
          <p:cNvPr id="37" name="page-11">
            <a:extLst xmlns:a="http://schemas.openxmlformats.org/drawingml/2006/main">
              <a:ext uri="{FF2B5EF4-FFF2-40B4-BE49-F238E27FC236}">
                <a16:creationId xmlns:a16="http://schemas.microsoft.com/office/drawing/2014/main" id="{0F063F00-6728-4A6C-8EED-57395056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977E8"/>
                </a:solidFill>
              </a:defRPr>
            </a:pPr>
            <a:r>
              <a:rPr sz="1275" b="1">
                <a:solidFill>
                  <a:srgbClr val="3977E8"/>
                </a:solidFill>
              </a:rPr>
              <a:t>11</a:t>
            </a:r>
          </a:p>
        </p:txBody>
      </p:sp>
      <p:sp>
        <p:nvSpPr>
          <p:cNvPr id="38" name="slide11-eyebrow">
            <a:extLst xmlns:a="http://schemas.openxmlformats.org/drawingml/2006/main">
              <a:ext uri="{FF2B5EF4-FFF2-40B4-BE49-F238E27FC236}">
                <a16:creationId xmlns:a16="http://schemas.microsoft.com/office/drawing/2014/main" id="{0AD88595-0AC8-4221-A280-525B3ED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7E8"/>
                </a:solidFill>
              </a:defRPr>
            </a:pPr>
            <a:r>
              <a:rPr sz="1200" b="1">
                <a:solidFill>
                  <a:srgbClr val="3977E8"/>
                </a:solidFill>
              </a:rPr>
              <a:t>11 / NEXT STAGE</a:t>
            </a:r>
          </a:p>
        </p:txBody>
      </p:sp>
      <p:sp>
        <p:nvSpPr>
          <p:cNvPr id="39" name="slide11-title">
            <a:extLst xmlns:a="http://schemas.openxmlformats.org/drawingml/2006/main">
              <a:ext uri="{FF2B5EF4-FFF2-40B4-BE49-F238E27FC236}">
                <a16:creationId xmlns:a16="http://schemas.microsoft.com/office/drawing/2014/main" id="{06CF6010-91F6-4841-91F8-83B77E3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233B"/>
                </a:solidFill>
              </a:defRPr>
            </a:pPr>
            <a:r>
              <a:rPr sz="2775" b="1">
                <a:solidFill>
                  <a:srgbClr val="16233B"/>
                </a:solidFill>
              </a:rPr>
              <a:t>下一阶段将把“功能可用”推进到“稳定可演示、结果可验证”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6CE2DE-93A9-4E65-8893-3D1C884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5BBD9-DE31-47F5-AB86-722FD36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685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E7C61-9DE1-417D-85EF-2A858416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43" name="phase-num-0">
            <a:extLst xmlns:a="http://schemas.openxmlformats.org/drawingml/2006/main">
              <a:ext uri="{FF2B5EF4-FFF2-40B4-BE49-F238E27FC236}">
                <a16:creationId xmlns:a16="http://schemas.microsoft.com/office/drawing/2014/main" id="{B21D8EC7-216E-4F05-AD7F-1E03F561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01</a:t>
            </a:r>
          </a:p>
        </p:txBody>
      </p:sp>
      <p:sp>
        <p:nvSpPr>
          <p:cNvPr id="44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3B43105-AAC1-4124-AAB8-E9AF2CFC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3B"/>
                </a:solidFill>
              </a:defRPr>
            </a:pPr>
            <a:r>
              <a:rPr sz="1500" b="1">
                <a:solidFill>
                  <a:srgbClr val="16233B"/>
                </a:solidFill>
              </a:rPr>
              <a:t>智能化优化</a:t>
            </a:r>
          </a:p>
        </p:txBody>
      </p:sp>
      <p:sp>
        <p:nvSpPr>
          <p:cNvPr id="45" name="phase-copy-0">
            <a:extLst xmlns:a="http://schemas.openxmlformats.org/drawingml/2006/main">
              <a:ext uri="{FF2B5EF4-FFF2-40B4-BE49-F238E27FC236}">
                <a16:creationId xmlns:a16="http://schemas.microsoft.com/office/drawing/2014/main" id="{21E72F14-D03D-42C4-A6D8-D9A15AF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5755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追问、上下文与异常处理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2AD550-F36F-4272-BEC9-AFD1F793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7E8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47" name="phase-num-1">
            <a:extLst xmlns:a="http://schemas.openxmlformats.org/drawingml/2006/main">
              <a:ext uri="{FF2B5EF4-FFF2-40B4-BE49-F238E27FC236}">
                <a16:creationId xmlns:a16="http://schemas.microsoft.com/office/drawing/2014/main" id="{5BB8A541-F736-4A56-A1E0-2E4ACDA5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33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02</a:t>
            </a:r>
          </a:p>
        </p:txBody>
      </p:sp>
      <p:sp>
        <p:nvSpPr>
          <p:cNvPr id="4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E84098AB-FEFA-4443-BCE8-56241DB6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481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3B"/>
                </a:solidFill>
              </a:defRPr>
            </a:pPr>
            <a:r>
              <a:rPr sz="1500" b="1">
                <a:solidFill>
                  <a:srgbClr val="16233B"/>
                </a:solidFill>
              </a:rPr>
              <a:t>数字人联调</a:t>
            </a:r>
          </a:p>
        </p:txBody>
      </p:sp>
      <p:sp>
        <p:nvSpPr>
          <p:cNvPr id="49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07A106A0-5787-438E-9744-7C76A16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语音、字幕、口型与会话同步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3AF229-3C66-4670-AFFA-E2FFDB4E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431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51" name="phase-num-2">
            <a:extLst xmlns:a="http://schemas.openxmlformats.org/drawingml/2006/main">
              <a:ext uri="{FF2B5EF4-FFF2-40B4-BE49-F238E27FC236}">
                <a16:creationId xmlns:a16="http://schemas.microsoft.com/office/drawing/2014/main" id="{33564570-3377-44C6-A516-3A579998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62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03</a:t>
            </a:r>
          </a:p>
        </p:txBody>
      </p:sp>
      <p:sp>
        <p:nvSpPr>
          <p:cNvPr id="52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EC1939B7-1932-45B6-99BB-D044AAB3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3B"/>
                </a:solidFill>
              </a:defRPr>
            </a:pPr>
            <a:r>
              <a:rPr sz="1500" b="1">
                <a:solidFill>
                  <a:srgbClr val="16233B"/>
                </a:solidFill>
              </a:rPr>
              <a:t>系统测试</a:t>
            </a:r>
          </a:p>
        </p:txBody>
      </p:sp>
      <p:sp>
        <p:nvSpPr>
          <p:cNvPr id="53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1B80E613-C864-40CA-9520-51BE4EDC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接口、全流程与性能验证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2ADF4B-3F64-4AC7-A152-D7FF368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B9"/>
          </a:solidFill>
          <a:ln xmlns:a="http://schemas.openxmlformats.org/drawingml/2006/main" w="47625">
            <a:solidFill>
              <a:srgbClr val="EAF1F7"/>
            </a:solidFill>
            <a:prstDash val="solid"/>
          </a:ln>
        </p:spPr>
      </p:sp>
      <p:sp>
        <p:nvSpPr>
          <p:cNvPr id="55" name="phase-num-3">
            <a:extLst xmlns:a="http://schemas.openxmlformats.org/drawingml/2006/main">
              <a:ext uri="{FF2B5EF4-FFF2-40B4-BE49-F238E27FC236}">
                <a16:creationId xmlns:a16="http://schemas.microsoft.com/office/drawing/2014/main" id="{83C8E35C-84BB-486E-9743-D9F4058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33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04</a:t>
            </a:r>
          </a:p>
        </p:txBody>
      </p:sp>
      <p:sp>
        <p:nvSpPr>
          <p:cNvPr id="56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34ACD031-2F63-4534-8E57-7C0731F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3B"/>
                </a:solidFill>
              </a:defRPr>
            </a:pPr>
            <a:r>
              <a:rPr sz="1500" b="1">
                <a:solidFill>
                  <a:srgbClr val="16233B"/>
                </a:solidFill>
              </a:rPr>
              <a:t>试用与材料</a:t>
            </a:r>
          </a:p>
        </p:txBody>
      </p:sp>
      <p:sp>
        <p:nvSpPr>
          <p:cNvPr id="57" name="phase-copy-3">
            <a:extLst xmlns:a="http://schemas.openxmlformats.org/drawingml/2006/main">
              <a:ext uri="{FF2B5EF4-FFF2-40B4-BE49-F238E27FC236}">
                <a16:creationId xmlns:a16="http://schemas.microsoft.com/office/drawing/2014/main" id="{CA5309C4-B93C-4F57-BE67-51C7918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291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57B"/>
                </a:solidFill>
              </a:defRPr>
            </a:pPr>
            <a:r>
              <a:rPr sz="1200">
                <a:solidFill>
                  <a:srgbClr val="52657B"/>
                </a:solidFill>
              </a:rPr>
              <a:t>反馈迭代、文档与演示准备</a:t>
            </a:r>
          </a:p>
        </p:txBody>
      </p:sp>
      <p:sp>
        <p:nvSpPr>
          <p:cNvPr id="58" name="guidance-panel">
            <a:extLst xmlns:a="http://schemas.openxmlformats.org/drawingml/2006/main">
              <a:ext uri="{FF2B5EF4-FFF2-40B4-BE49-F238E27FC236}">
                <a16:creationId xmlns:a16="http://schemas.microsoft.com/office/drawing/2014/main" id="{064891D5-4C6F-473F-85F7-9E71F98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2343150" cy="4000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977E8"/>
            </a:solidFill>
            <a:prstDash val="solid"/>
          </a:ln>
        </p:spPr>
      </p:sp>
      <p:sp>
        <p:nvSpPr>
          <p:cNvPr id="59" name="guidance-heading">
            <a:extLst xmlns:a="http://schemas.openxmlformats.org/drawingml/2006/main">
              <a:ext uri="{FF2B5EF4-FFF2-40B4-BE49-F238E27FC236}">
                <a16:creationId xmlns:a16="http://schemas.microsoft.com/office/drawing/2014/main" id="{76510B95-CF7A-4743-B7A9-63E2359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3832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F4FA"/>
                </a:solidFill>
              </a:defRPr>
            </a:pPr>
            <a:r>
              <a:rPr sz="1725" b="1">
                <a:solidFill>
                  <a:srgbClr val="EEF4FA"/>
                </a:solidFill>
              </a:rPr>
              <a:t>希望老师重点指导</a:t>
            </a:r>
          </a:p>
        </p:txBody>
      </p:sp>
      <p:sp>
        <p:nvSpPr>
          <p:cNvPr id="60" name="guidance-list">
            <a:extLst xmlns:a="http://schemas.openxmlformats.org/drawingml/2006/main">
              <a:ext uri="{FF2B5EF4-FFF2-40B4-BE49-F238E27FC236}">
                <a16:creationId xmlns:a16="http://schemas.microsoft.com/office/drawing/2014/main" id="{147BBFF4-0401-4EF0-9961-F772D14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16954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01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评价维度是否合理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02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数字人实现深度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03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C8D8E8"/>
                </a:solidFill>
              </a:defRPr>
            </a:pPr>
            <a:r>
              <a:rPr sz="1350" b="1">
                <a:solidFill>
                  <a:srgbClr val="C8D8E8"/>
                </a:solidFill>
              </a:rPr>
              <a:t>测试指标优先级</a:t>
            </a:r>
          </a:p>
        </p:txBody>
      </p:sp>
      <p:sp>
        <p:nvSpPr>
          <p:cNvPr id="61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F6AF3631-EEAC-48AA-B704-BB90444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803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7F1"/>
          </a:solidFill>
          <a:ln xmlns:a="http://schemas.openxmlformats.org/drawingml/2006/main" w="9525">
            <a:solidFill>
              <a:srgbClr val="A9C1DD"/>
            </a:solidFill>
            <a:prstDash val="solid"/>
          </a:ln>
        </p:spPr>
      </p:sp>
      <p:sp>
        <p:nvSpPr>
          <p:cNvPr id="62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EF242993-D96E-4DF4-B575-A548155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233B"/>
                </a:solidFill>
              </a:defRPr>
            </a:pPr>
            <a:r>
              <a:rPr sz="1425" b="1">
                <a:solidFill>
                  <a:srgbClr val="16233B"/>
                </a:solidFill>
              </a:rPr>
              <a:t>主体框架与核心闭环已经形成；下一阶段聚焦交互质量、运行稳定性与评价可信度。</a:t>
            </a:r>
          </a:p>
        </p:txBody>
      </p:sp>
    </p:spTree>
    <p:extLst>
      <p:ext uri="{BB962C8B-B14F-4D97-AF65-F5344CB8AC3E}">
        <p14:creationId xmlns:p14="http://schemas.microsoft.com/office/powerpoint/2010/main" val="1527938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2026-07-27T07:20:39.7250000Z</dcterms:created>
  <dcterms:modified xsi:type="dcterms:W3CDTF">2026-07-27T07:20:39.7250000Z</dcterms:modified>
</coreProperties>
</file>